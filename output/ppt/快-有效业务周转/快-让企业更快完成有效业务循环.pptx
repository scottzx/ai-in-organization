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分析了岗位任务、业务流程和组织协同，最后需要给企业一个能够执行的答案。这份演示把答案收束到一个字：快。这里的快，是更快判断、更快验证、更快复用、更快调整，让业务更快取得合格结果。接下来用上册的分析和局部案例说明，怎样把这个字落实为分工、流程、反馈和实施决定。四种快是本次演示整理的管理抓手。</a:t>
            </a:r>
          </a:p>
          <a:p/>
          <a:p>
            <a:r>
              <a:t>【依据与定位】</a:t>
            </a:r>
          </a:p>
          <a:p>
            <a:r>
              <a:t>上册第一章｜执行能力的新选择</a:t>
            </a:r>
          </a:p>
          <a:p>
            <a:r>
              <a:t>上册-研究报告/01-智力即服务.md</a:t>
            </a:r>
          </a:p>
          <a:p>
            <a:r>
              <a:t>https://github.com/scottzx/ai-in-organization/blob/713f5f442fd199235844b35b02bf806d20914d95/%E4%B8%8A%E5%86%8C-%E7%A0%94%E7%A9%B6%E6%8A%A5%E5%91%8A/01-%E6%99%BA%E5%8A%9B%E5%8D%B3%E6%9C%8D%E5%8A%A1.md</a:t>
            </a:r>
          </a:p>
          <a:p>
            <a:r>
              <a:t>上册第二章｜MTL岗位任务与能力沉淀</a:t>
            </a:r>
          </a:p>
          <a:p>
            <a:r>
              <a:t>上册-研究报告/02-最小执行单位-从人到任务.md</a:t>
            </a:r>
          </a:p>
          <a:p>
            <a:r>
              <a:t>https://github.com/scottzx/ai-in-organization/blob/713f5f442fd199235844b35b02bf806d20914d95/%E4%B8%8A%E5%86%8C-%E7%A0%94%E7%A9%B6%E6%8A%A5%E5%91%8A/02-%E6%9C%80%E5%B0%8F%E6%89%A7%E8%A1%8C%E5%8D%95%E4%BD%8D-%E4%BB%8E%E4%BA%BA%E5%88%B0%E4%BB%BB%E5%8A%A1.md</a:t>
            </a:r>
          </a:p>
          <a:p>
            <a:r>
              <a:t>上册第三章｜端到端流程与组织协同</a:t>
            </a:r>
          </a:p>
          <a:p>
            <a:r>
              <a:t>上册-研究报告/03-单点提效为何未传导到整体交付.md</a:t>
            </a:r>
          </a:p>
          <a:p>
            <a:r>
              <a:t>https://github.com/scottzx/ai-in-organization/blob/713f5f442fd199235844b35b02bf806d20914d95/%E4%B8%8A%E5%86%8C-%E7%A0%94%E7%A9%B6%E6%8A%A5%E5%91%8A/03-%E5%8D%95%E7%82%B9%E6%8F%90%E6%95%88%E4%B8%BA%E4%BD%95%E6%9C%AA%E4%BC%A0%E5%AF%BC%E5%88%B0%E6%95%B4%E4%BD%93%E4%BA%A4%E4%BB%98.md</a:t>
            </a:r>
          </a:p>
          <a:p>
            <a:r>
              <a:t>上册第四章｜智力飞轮与有效业务周转</a:t>
            </a:r>
          </a:p>
          <a:p>
            <a:r>
              <a:t>上册-研究报告/04-从被动响应到主动触发.md</a:t>
            </a:r>
          </a:p>
          <a:p>
            <a:r>
              <a:t>https://github.com/scottzx/ai-in-organization/blob/713f5f442fd199235844b35b02bf806d20914d95/%E4%B8%8A%E5%86%8C-%E7%A0%94%E7%A9%B6%E6%8A%A5%E5%91%8A/04-%E4%BB%8E%E8%A2%AB%E5%8A%A8%E5%93%8D%E5%BA%94%E5%88%B0%E4%B8%BB%E5%8A%A8%E8%A7%A6%E5%8F%91.md</a:t>
            </a:r>
          </a:p>
          <a:p>
            <a:r>
              <a:t>上册第五章｜实施、核算与扩展取舍</a:t>
            </a:r>
          </a:p>
          <a:p>
            <a:r>
              <a:t>上册-研究报告/05-行动计划.md</a:t>
            </a:r>
          </a:p>
          <a:p>
            <a:r>
              <a:t>https://github.com/scottzx/ai-in-organization/blob/713f5f442fd199235844b35b02bf806d20914d95/%E4%B8%8A%E5%86%8C-%E7%A0%94%E7%A9%B6%E6%8A%A5%E5%91%8A/05-%E8%A1%8C%E5%8A%A8%E8%AE%A1%E5%88%92.md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清楚我们加快的对象。上册第四章把有效业务周转定义为：接收具体问题，形成合格结果，并被下一环节采用的一轮工作。例如收到客户意见、修改方案、核实关键条件，再把方案用于下一次客户沟通。这个范围比生成一份材料更完整，也比整家公司所有活动更具体。每次反馈还要进入下一轮，使后续工作接着已有认识推进。</a:t>
            </a:r>
          </a:p>
          <a:p/>
          <a:p>
            <a:r>
              <a:t>【依据与定位】</a:t>
            </a:r>
          </a:p>
          <a:p>
            <a:r>
              <a:t>上册第四章｜智力飞轮与有效业务周转</a:t>
            </a:r>
          </a:p>
          <a:p>
            <a:r>
              <a:t>上册-研究报告/04-从被动响应到主动触发.md</a:t>
            </a:r>
          </a:p>
          <a:p>
            <a:r>
              <a:t>https://github.com/scottzx/ai-in-organization/blob/713f5f442fd199235844b35b02bf806d20914d95/%E4%B8%8A%E5%86%8C-%E7%A0%94%E7%A9%B6%E6%8A%A5%E5%91%8A/04-%E4%BB%8E%E8%A2%AB%E5%8A%A8%E5%93%8D%E5%BA%94%E5%88%B0%E4%B8%BB%E5%8A%A8%E8%A7%A6%E5%8F%91.md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章的推导可以压成一条线。第一章说明执行能力有了可调用的新选择；第二章把业务目标拆到任务，并安排人、AI和程序；第三章让跨部门产物真正接上；第四章让经验改善下一轮；第五章决定选什么、怎么验证、怎样核投入、什么时候扩展或停止。快因此包含执行与组织两方面的改造，是这套分析可以给企业的解决方案方向。</a:t>
            </a:r>
          </a:p>
          <a:p/>
          <a:p>
            <a:r>
              <a:t>【依据与定位】</a:t>
            </a:r>
          </a:p>
          <a:p>
            <a:r>
              <a:t>上册第一章｜执行能力的新选择</a:t>
            </a:r>
          </a:p>
          <a:p>
            <a:r>
              <a:t>上册-研究报告/01-智力即服务.md</a:t>
            </a:r>
          </a:p>
          <a:p>
            <a:r>
              <a:t>https://github.com/scottzx/ai-in-organization/blob/713f5f442fd199235844b35b02bf806d20914d95/%E4%B8%8A%E5%86%8C-%E7%A0%94%E7%A9%B6%E6%8A%A5%E5%91%8A/01-%E6%99%BA%E5%8A%9B%E5%8D%B3%E6%9C%8D%E5%8A%A1.md</a:t>
            </a:r>
          </a:p>
          <a:p>
            <a:r>
              <a:t>上册第二章｜MTL岗位任务与能力沉淀</a:t>
            </a:r>
          </a:p>
          <a:p>
            <a:r>
              <a:t>上册-研究报告/02-最小执行单位-从人到任务.md</a:t>
            </a:r>
          </a:p>
          <a:p>
            <a:r>
              <a:t>https://github.com/scottzx/ai-in-organization/blob/713f5f442fd199235844b35b02bf806d20914d95/%E4%B8%8A%E5%86%8C-%E7%A0%94%E7%A9%B6%E6%8A%A5%E5%91%8A/02-%E6%9C%80%E5%B0%8F%E6%89%A7%E8%A1%8C%E5%8D%95%E4%BD%8D-%E4%BB%8E%E4%BA%BA%E5%88%B0%E4%BB%BB%E5%8A%A1.md</a:t>
            </a:r>
          </a:p>
          <a:p>
            <a:r>
              <a:t>上册第三章｜端到端流程与组织协同</a:t>
            </a:r>
          </a:p>
          <a:p>
            <a:r>
              <a:t>上册-研究报告/03-单点提效为何未传导到整体交付.md</a:t>
            </a:r>
          </a:p>
          <a:p>
            <a:r>
              <a:t>https://github.com/scottzx/ai-in-organization/blob/713f5f442fd199235844b35b02bf806d20914d95/%E4%B8%8A%E5%86%8C-%E7%A0%94%E7%A9%B6%E6%8A%A5%E5%91%8A/03-%E5%8D%95%E7%82%B9%E6%8F%90%E6%95%88%E4%B8%BA%E4%BD%95%E6%9C%AA%E4%BC%A0%E5%AF%BC%E5%88%B0%E6%95%B4%E4%BD%93%E4%BA%A4%E4%BB%98.md</a:t>
            </a:r>
          </a:p>
          <a:p>
            <a:r>
              <a:t>上册第四章｜智力飞轮与有效业务周转</a:t>
            </a:r>
          </a:p>
          <a:p>
            <a:r>
              <a:t>上册-研究报告/04-从被动响应到主动触发.md</a:t>
            </a:r>
          </a:p>
          <a:p>
            <a:r>
              <a:t>https://github.com/scottzx/ai-in-organization/blob/713f5f442fd199235844b35b02bf806d20914d95/%E4%B8%8A%E5%86%8C-%E7%A0%94%E7%A9%B6%E6%8A%A5%E5%91%8A/04-%E4%BB%8E%E8%A2%AB%E5%8A%A8%E5%93%8D%E5%BA%94%E5%88%B0%E4%B8%BB%E5%8A%A8%E8%A7%A6%E5%8F%91.md</a:t>
            </a:r>
          </a:p>
          <a:p>
            <a:r>
              <a:t>上册第五章｜实施、核算与扩展取舍</a:t>
            </a:r>
          </a:p>
          <a:p>
            <a:r>
              <a:t>上册-研究报告/05-行动计划.md</a:t>
            </a:r>
          </a:p>
          <a:p>
            <a:r>
              <a:t>https://github.com/scottzx/ai-in-organization/blob/713f5f442fd199235844b35b02bf806d20914d95/%E4%B8%8A%E5%86%8C-%E7%A0%94%E7%A9%B6%E6%8A%A5%E5%91%8A/05-%E8%A1%8C%E5%8A%A8%E8%AE%A1%E5%88%92.md</a:t>
            </a:r>
          </a:p>
          <a:p>
            <a:r>
              <a:t>上册结语｜认识与适用范围</a:t>
            </a:r>
          </a:p>
          <a:p>
            <a:r>
              <a:t>上册-研究报告/06-结语.md</a:t>
            </a:r>
          </a:p>
          <a:p>
            <a:r>
              <a:t>https://github.com/scottzx/ai-in-organization/blob/713f5f442fd199235844b35b02bf806d20914d95/%E4%B8%8A%E5%86%8C-%E7%A0%94%E7%A9%B6%E6%8A%A5%E5%91%8A/06-%E7%BB%93%E8%AF%AD.md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从局部提效走向周转改善的关键一步。一个工具可能很快产出初稿，但审核队列没有变化、资料仍需重建、下游没有接手，完整业务就仍在等待。泳装商拍供方回顾早期服务时，约八成图片还靠PS补救，交出的图片甚至比真人拍摄更贵。这一数据只指早期试点，不能代表后来的能力。我们要观察客户可用结果怎样形成，找出真正拖慢这一轮的环节。</a:t>
            </a:r>
          </a:p>
          <a:p/>
          <a:p>
            <a:r>
              <a:t>【依据与定位】</a:t>
            </a:r>
          </a:p>
          <a:p>
            <a:r>
              <a:t>上册第三章｜端到端流程与组织协同</a:t>
            </a:r>
          </a:p>
          <a:p>
            <a:r>
              <a:t>上册-研究报告/03-单点提效为何未传导到整体交付.md</a:t>
            </a:r>
          </a:p>
          <a:p>
            <a:r>
              <a:t>https://github.com/scottzx/ai-in-organization/blob/713f5f442fd199235844b35b02bf806d20914d95/%E4%B8%8A%E5%86%8C-%E7%A0%94%E7%A9%B6%E6%8A%A5%E5%91%8A/03-%E5%8D%95%E7%82%B9%E6%8F%90%E6%95%88%E4%B8%BA%E4%BD%95%E6%9C%AA%E4%BC%A0%E5%AF%BC%E5%88%B0%E6%95%B4%E4%BD%93%E4%BA%A4%E4%BB%98.md</a:t>
            </a:r>
          </a:p>
          <a:p>
            <a:r>
              <a:t>上册第四章｜智力飞轮与有效业务周转</a:t>
            </a:r>
          </a:p>
          <a:p>
            <a:r>
              <a:t>上册-研究报告/04-从被动响应到主动触发.md</a:t>
            </a:r>
          </a:p>
          <a:p>
            <a:r>
              <a:t>https://github.com/scottzx/ai-in-organization/blob/713f5f442fd199235844b35b02bf806d20914d95/%E4%B8%8A%E5%86%8C-%E7%A0%94%E7%A9%B6%E6%8A%A5%E5%91%8A/04-%E4%BB%8E%E8%A2%AB%E5%8A%A8%E5%93%8D%E5%BA%94%E5%88%B0%E4%B8%BB%E5%8A%A8%E8%A7%A6%E5%8F%91.md</a:t>
            </a:r>
          </a:p>
          <a:p>
            <a:r>
              <a:t>兴城泳装AI商拍服务</a:t>
            </a:r>
          </a:p>
          <a:p>
            <a:r>
              <a:t>下册-案例汇编/I-信息传输软件与信息技术服务业/I01-兴城泳装AI商拍服务.md#s-28-f01｜阶段：试点</a:t>
            </a:r>
          </a:p>
          <a:p>
            <a:r>
              <a:t>https://www.douyin.com/video/7678014973284486419</a:t>
            </a:r>
          </a:p>
          <a:p>
            <a:r>
              <a:t>00:02:44.880；00:04:22.170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章以市场和客户开发为例。MTL最后要交出销售实际接手、能够继续跟进的有效线索。第三章接着沿LTC验证机会、形成需求与承诺，完成合同、履约、验收及回款。两个层次既有各自的完成条件，也共享客户对象和反馈。市场人员准备得更快，要由销售接住；销售推进更快，要由方案、交付与财务共同完成。这里展示的是报告的应用示意，不是所有企业都使用的固定流程。</a:t>
            </a:r>
          </a:p>
          <a:p/>
          <a:p>
            <a:r>
              <a:t>【依据与定位】</a:t>
            </a:r>
          </a:p>
          <a:p>
            <a:r>
              <a:t>上册第二章｜MTL岗位任务与能力沉淀</a:t>
            </a:r>
          </a:p>
          <a:p>
            <a:r>
              <a:t>上册-研究报告/02-最小执行单位-从人到任务.md</a:t>
            </a:r>
          </a:p>
          <a:p>
            <a:r>
              <a:t>https://github.com/scottzx/ai-in-organization/blob/713f5f442fd199235844b35b02bf806d20914d95/%E4%B8%8A%E5%86%8C-%E7%A0%94%E7%A9%B6%E6%8A%A5%E5%91%8A/02-%E6%9C%80%E5%B0%8F%E6%89%A7%E8%A1%8C%E5%8D%95%E4%BD%8D-%E4%BB%8E%E4%BA%BA%E5%88%B0%E4%BB%BB%E5%8A%A1.md</a:t>
            </a:r>
          </a:p>
          <a:p>
            <a:r>
              <a:t>上册第三章｜端到端流程与组织协同</a:t>
            </a:r>
          </a:p>
          <a:p>
            <a:r>
              <a:t>上册-研究报告/03-单点提效为何未传导到整体交付.md</a:t>
            </a:r>
          </a:p>
          <a:p>
            <a:r>
              <a:t>https://github.com/scottzx/ai-in-organization/blob/713f5f442fd199235844b35b02bf806d20914d95/%E4%B8%8A%E5%86%8C-%E7%A0%94%E7%A9%B6%E6%8A%A5%E5%91%8A/03-%E5%8D%95%E7%82%B9%E6%8F%90%E6%95%88%E4%B8%BA%E4%BD%95%E6%9C%AA%E4%BC%A0%E5%AF%BC%E5%88%B0%E6%95%B4%E4%BD%93%E4%BA%A4%E4%BB%98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种快对应四个管理问题。信号已经出现，依据什么时候进入授权决定？已经拍板，什么时候看到可用结果？一处跑通，其他人员和任务什么时候能够采用？条件变了，方案和资源什么时候完成调整并继续运行？这些距离可以被记录，也可以落实负责人。四种快相互配合：决策帮助试验，试验形成方法，方法支持复制，新依据又推动切换。</a:t>
            </a:r>
          </a:p>
          <a:p/>
          <a:p>
            <a:r>
              <a:t>【依据与定位】</a:t>
            </a:r>
          </a:p>
          <a:p>
            <a:r>
              <a:t>上册第三章｜端到端流程与组织协同</a:t>
            </a:r>
          </a:p>
          <a:p>
            <a:r>
              <a:t>上册-研究报告/03-单点提效为何未传导到整体交付.md</a:t>
            </a:r>
          </a:p>
          <a:p>
            <a:r>
              <a:t>https://github.com/scottzx/ai-in-organization/blob/713f5f442fd199235844b35b02bf806d20914d95/%E4%B8%8A%E5%86%8C-%E7%A0%94%E7%A9%B6%E6%8A%A5%E5%91%8A/03-%E5%8D%95%E7%82%B9%E6%8F%90%E6%95%88%E4%B8%BA%E4%BD%95%E6%9C%AA%E4%BC%A0%E5%AF%BC%E5%88%B0%E6%95%B4%E4%BD%93%E4%BA%A4%E4%BB%98.md</a:t>
            </a:r>
          </a:p>
          <a:p>
            <a:r>
              <a:t>上册第四章｜智力飞轮与有效业务周转</a:t>
            </a:r>
          </a:p>
          <a:p>
            <a:r>
              <a:t>上册-研究报告/04-从被动响应到主动触发.md</a:t>
            </a:r>
          </a:p>
          <a:p>
            <a:r>
              <a:t>https://github.com/scottzx/ai-in-organization/blob/713f5f442fd199235844b35b02bf806d20914d95/%E4%B8%8A%E5%86%8C-%E7%A0%94%E7%A9%B6%E6%8A%A5%E5%91%8A/04-%E4%BB%8E%E8%A2%AB%E5%8A%A8%E5%93%8D%E5%BA%94%E5%88%B0%E4%B8%BB%E5%8A%A8%E8%A7%A6%E5%8F%91.md</a:t>
            </a:r>
          </a:p>
          <a:p>
            <a:r>
              <a:t>上册第五章｜实施、核算与扩展取舍</a:t>
            </a:r>
          </a:p>
          <a:p>
            <a:r>
              <a:t>上册-研究报告/05-行动计划.md</a:t>
            </a:r>
          </a:p>
          <a:p>
            <a:r>
              <a:t>https://github.com/scottzx/ai-in-organization/blob/713f5f442fd199235844b35b02bf806d20914d95/%E4%B8%8A%E5%86%8C-%E7%A0%94%E7%A9%B6%E6%8A%A5%E5%91%8A/05-%E8%A1%8C%E5%8A%A8%E8%AE%A1%E5%88%92.md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快需要的是更早取得可用依据，并让有权决定的人及时接手。AI可以整理事实、比较选项，程序核对规则和记录状态，人确认重要取舍与对外承诺。澳洲乳企项目先区分发货与动销，统一数据口径，使数字能够追源，并进入周会。实施者称周会从反复对数转向讨论预算和SKU原因。这是依据进入经营判断的局部参照，报告没有据此量化决策周期或预算回报。</a:t>
            </a:r>
          </a:p>
          <a:p/>
          <a:p>
            <a:r>
              <a:t>【依据与定位】</a:t>
            </a:r>
          </a:p>
          <a:p>
            <a:r>
              <a:t>上册第三章｜端到端流程与组织协同</a:t>
            </a:r>
          </a:p>
          <a:p>
            <a:r>
              <a:t>上册-研究报告/03-单点提效为何未传导到整体交付.md</a:t>
            </a:r>
          </a:p>
          <a:p>
            <a:r>
              <a:t>https://github.com/scottzx/ai-in-organization/blob/713f5f442fd199235844b35b02bf806d20914d95/%E4%B8%8A%E5%86%8C-%E7%A0%94%E7%A9%B6%E6%8A%A5%E5%91%8A/03-%E5%8D%95%E7%82%B9%E6%8F%90%E6%95%88%E4%B8%BA%E4%BD%95%E6%9C%AA%E4%BC%A0%E5%AF%BC%E5%88%B0%E6%95%B4%E4%BD%93%E4%BA%A4%E4%BB%98.md</a:t>
            </a:r>
          </a:p>
          <a:p>
            <a:r>
              <a:t>上册第五章｜实施、核算与扩展取舍</a:t>
            </a:r>
          </a:p>
          <a:p>
            <a:r>
              <a:t>上册-研究报告/05-行动计划.md</a:t>
            </a:r>
          </a:p>
          <a:p>
            <a:r>
              <a:t>https://github.com/scottzx/ai-in-organization/blob/713f5f442fd199235844b35b02bf806d20914d95/%E4%B8%8A%E5%86%8C-%E7%A0%94%E7%A9%B6%E6%8A%A5%E5%91%8A/05-%E8%A1%8C%E5%8A%A8%E8%AE%A1%E5%88%92.md</a:t>
            </a:r>
          </a:p>
          <a:p>
            <a:r>
              <a:t>澳洲乳企海外动销分析</a:t>
            </a:r>
          </a:p>
          <a:p>
            <a:r>
              <a:t>下册-案例汇编/C-制造业/C11-澳洲乳企海外动销分析.md#c-24-f01｜阶段：局部使用</a:t>
            </a:r>
          </a:p>
          <a:p>
            <a:r>
              <a:t>https://assets.datawhale.cn/Datawhale%20FDE%E6%A1%88%E4%BE%8B100.pdf#page=234</a:t>
            </a:r>
          </a:p>
          <a:p>
            <a:r>
              <a:t>原书页码：233–243；PDF 文件页码：234–244。 Markdown第75—81行。；原书页码：233–243；PDF 文件页码：234–244。 Markdown第95—101行。；原书页码：233–243；PDF 文件页码：234–244。 Markdown第103—107行。；原书页码：233–243；PDF 文件页码：234–244。 Markdown第147—155行。；原书页码：233–243；PDF 文件页码：234–244。 Markdown第111—117行。；原书页码：233–243；PDF 文件页码：234–244。 Markdown第123—129行。；原书页码：233–243；PDF 文件页码：234–244。 Markdown第95—107行。；原书页码：233–243；PDF 文件页码：234–244。 Markdown第123—133行。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家烘焙企业有十几家门店。AI汇总经营信息，并辅助检查外卖数据，经营者发现平台补贴与组合折扣叠加后，部分单品毛利存在问题。他调整促销，再按AI辅助设计的七天标准观察。受访者描述的结果是销量下降、总毛利额上升。七天是这次观察窗口，不能理解为原来一年现在七天；总毛利额也不能换成净利润。这个案例说明，小范围经营试验可以让团队围绕真实目标更早取得有效反馈。</a:t>
            </a:r>
          </a:p>
          <a:p/>
          <a:p>
            <a:r>
              <a:t>【依据与定位】</a:t>
            </a:r>
          </a:p>
          <a:p>
            <a:r>
              <a:t>上册第五章｜实施、核算与扩展取舍</a:t>
            </a:r>
          </a:p>
          <a:p>
            <a:r>
              <a:t>上册-研究报告/05-行动计划.md</a:t>
            </a:r>
          </a:p>
          <a:p>
            <a:r>
              <a:t>https://github.com/scottzx/ai-in-organization/blob/713f5f442fd199235844b35b02bf806d20914d95/%E4%B8%8A%E5%86%8C-%E7%A0%94%E7%A9%B6%E6%8A%A5%E5%91%8A/05-%E8%A1%8C%E5%8A%A8%E8%AE%A1%E5%88%92.md</a:t>
            </a:r>
          </a:p>
          <a:p>
            <a:r>
              <a:t>温州连锁烘焙企业AI经营管理</a:t>
            </a:r>
          </a:p>
          <a:p>
            <a:r>
              <a:t>下册-案例汇编/F-批发与零售业/F11-温州连锁烘焙企业AI经营管理.md#s-31-f01｜阶段：局部使用</a:t>
            </a:r>
          </a:p>
          <a:p>
            <a:r>
              <a:t>https://www.douyin.com/video/7659990680017603878</a:t>
            </a:r>
          </a:p>
          <a:p>
            <a:r>
              <a:t>00:05:11.390；00:05:31.630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案例直接提供了一段完整周期变化。实施团队梳理从确定合作到收样、创作与提交的链路，让AI参与筛选匹配和脚本辅助，系统按状态提醒，运营人员继续处理关系和逾期事项。实施者称平均履约周期由约一个月缩至约十八天。两个数都保留来源原口径，不另算精确百分比，也不推GMV或利润增长。项目的数据接入协调还单独花了接近一个月，准备投入应与试运行周期分别理解。</a:t>
            </a:r>
          </a:p>
          <a:p/>
          <a:p>
            <a:r>
              <a:t>【依据与定位】</a:t>
            </a:r>
          </a:p>
          <a:p>
            <a:r>
              <a:t>上册第三章｜端到端流程与组织协同</a:t>
            </a:r>
          </a:p>
          <a:p>
            <a:r>
              <a:t>上册-研究报告/03-单点提效为何未传导到整体交付.md</a:t>
            </a:r>
          </a:p>
          <a:p>
            <a:r>
              <a:t>https://github.com/scottzx/ai-in-organization/blob/713f5f442fd199235844b35b02bf806d20914d95/%E4%B8%8A%E5%86%8C-%E7%A0%94%E7%A9%B6%E6%8A%A5%E5%91%8A/03-%E5%8D%95%E7%82%B9%E6%8F%90%E6%95%88%E4%B8%BA%E4%BD%95%E6%9C%AA%E4%BC%A0%E5%AF%BC%E5%88%B0%E6%95%B4%E4%BD%93%E4%BA%A4%E4%BB%98.md</a:t>
            </a:r>
          </a:p>
          <a:p>
            <a:r>
              <a:t>TikTok达人运营AI协作</a:t>
            </a:r>
          </a:p>
          <a:p>
            <a:r>
              <a:t>下册-案例汇编/L-租赁与商务服务业/L01-TikTok达人运营AI协作.md#c-05-f01｜阶段：试点</a:t>
            </a:r>
          </a:p>
          <a:p>
            <a:r>
              <a:t>https://assets.datawhale.cn/Datawhale%20FDE%E6%A1%88%E4%BE%8B100.pdf#page=47</a:t>
            </a:r>
          </a:p>
          <a:p>
            <a:r>
              <a:t>原书页码：46–54；PDF 文件页码：47–55。 Markdown第65—75行。；原书页码：46–54；PDF 文件页码：47–55。 Markdown第77—83行。；原书页码：46–54；PDF 文件页码：47–55。 Markdown第85—97行。；原书页码：46–54；PDF 文件页码：47–55。 Markdown第101—111行。；原书页码：46–54；PDF 文件页码：47–55。 Markdown第45—51行。；原书页码：46–54；PDF 文件页码：47–55。 Markdown第117—121行。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制的对象要包含做法为什么可用、哪些条件需要满足。输入、步骤、典型错误、验收和维护责任一起保留下来，其他人或智能体才能在新任务中判断是否适用。CGL先在部分团队试验，通过先锋群回应具体需求，将跑通的做法沉淀成技能，并接通原业务数据库。这提供了方法积累与采用相连的局部参照。复制是否更快，还要看新任务的实际使用与投入，不能以技能数量替代成功交付。</a:t>
            </a:r>
          </a:p>
          <a:p/>
          <a:p>
            <a:r>
              <a:t>【依据与定位】</a:t>
            </a:r>
          </a:p>
          <a:p>
            <a:r>
              <a:t>上册第二章｜MTL岗位任务与能力沉淀</a:t>
            </a:r>
          </a:p>
          <a:p>
            <a:r>
              <a:t>上册-研究报告/02-最小执行单位-从人到任务.md</a:t>
            </a:r>
          </a:p>
          <a:p>
            <a:r>
              <a:t>https://github.com/scottzx/ai-in-organization/blob/713f5f442fd199235844b35b02bf806d20914d95/%E4%B8%8A%E5%86%8C-%E7%A0%94%E7%A9%B6%E6%8A%A5%E5%91%8A/02-%E6%9C%80%E5%B0%8F%E6%89%A7%E8%A1%8C%E5%8D%95%E4%BD%8D-%E4%BB%8E%E4%BA%BA%E5%88%B0%E4%BB%BB%E5%8A%A1.md</a:t>
            </a:r>
          </a:p>
          <a:p>
            <a:r>
              <a:t>上册第四章｜智力飞轮与有效业务周转</a:t>
            </a:r>
          </a:p>
          <a:p>
            <a:r>
              <a:t>上册-研究报告/04-从被动响应到主动触发.md</a:t>
            </a:r>
          </a:p>
          <a:p>
            <a:r>
              <a:t>https://github.com/scottzx/ai-in-organization/blob/713f5f442fd199235844b35b02bf806d20914d95/%E4%B8%8A%E5%86%8C-%E7%A0%94%E7%A9%B6%E6%8A%A5%E5%91%8A/04-%E4%BB%8E%E8%A2%AB%E5%8A%A8%E5%93%8D%E5%BA%94%E5%88%B0%E4%B8%BB%E5%8A%A8%E8%A7%A6%E5%8F%91.md</a:t>
            </a:r>
          </a:p>
          <a:p>
            <a:r>
              <a:t>CGL招聘AI协作</a:t>
            </a:r>
          </a:p>
          <a:p>
            <a:r>
              <a:t>下册-案例汇编/L-租赁与商务服务业/L05-CGL招聘AI协作.md#s-20-f02｜阶段：局部使用</a:t>
            </a:r>
          </a:p>
          <a:p>
            <a:r>
              <a:t>https://www.douyin.com/video/7672652135388974399</a:t>
            </a:r>
          </a:p>
          <a:p>
            <a:r>
              <a:t>00:08:46.930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切换包括根据新约束调整路径，必要时停止不适配投入。消防维保项目发现监管系统没有开放接口，团队停止重复平台建设，改用已有工具与小模块，一笔约十万元的计划采购被叫停。已经发生的是建设和采购调整；AI月检描述当时仍为方向。这个案例支持讨论基于新依据作取舍，不能作为全公司跨业务切换耗时的证明。行动上，应预设复盘、调整和退出条件，保留原责任承接，让新方案经过确认后生效。</a:t>
            </a:r>
          </a:p>
          <a:p/>
          <a:p>
            <a:r>
              <a:t>【依据与定位】</a:t>
            </a:r>
          </a:p>
          <a:p>
            <a:r>
              <a:t>上册第三章｜端到端流程与组织协同</a:t>
            </a:r>
          </a:p>
          <a:p>
            <a:r>
              <a:t>上册-研究报告/03-单点提效为何未传导到整体交付.md</a:t>
            </a:r>
          </a:p>
          <a:p>
            <a:r>
              <a:t>https://github.com/scottzx/ai-in-organization/blob/713f5f442fd199235844b35b02bf806d20914d95/%E4%B8%8A%E5%86%8C-%E7%A0%94%E7%A9%B6%E6%8A%A5%E5%91%8A/03-%E5%8D%95%E7%82%B9%E6%8F%90%E6%95%88%E4%B8%BA%E4%BD%95%E6%9C%AA%E4%BC%A0%E5%AF%BC%E5%88%B0%E6%95%B4%E4%BD%93%E4%BA%A4%E4%BB%98.md</a:t>
            </a:r>
          </a:p>
          <a:p>
            <a:r>
              <a:t>上册第五章｜实施、核算与扩展取舍</a:t>
            </a:r>
          </a:p>
          <a:p>
            <a:r>
              <a:t>上册-研究报告/05-行动计划.md</a:t>
            </a:r>
          </a:p>
          <a:p>
            <a:r>
              <a:t>https://github.com/scottzx/ai-in-organization/blob/713f5f442fd199235844b35b02bf806d20914d95/%E4%B8%8A%E5%86%8C-%E7%A0%94%E7%A9%B6%E6%8A%A5%E5%91%8A/05-%E8%A1%8C%E5%8A%A8%E8%AE%A1%E5%88%92.md</a:t>
            </a:r>
          </a:p>
          <a:p>
            <a:r>
              <a:t>消防维保企业数字化项目取舍</a:t>
            </a:r>
          </a:p>
          <a:p>
            <a:r>
              <a:t>下册-案例汇编/M-科学研究与技术服务业/M02-消防维保企业数字化项目取舍.md#c-13-f01｜阶段：局部使用</a:t>
            </a:r>
          </a:p>
          <a:p>
            <a:r>
              <a:t>https://assets.datawhale.cn/Datawhale%20FDE%E6%A1%88%E4%BE%8B100.pdf#page=129</a:t>
            </a:r>
          </a:p>
          <a:p>
            <a:r>
              <a:t>原书页码：128–134；PDF 文件页码：129–135。 Markdown第51—59行。；原书页码：128–134；PDF 文件页码：129–135。 Markdown第59—65行。；原书页码：128–134；PDF 文件页码：129–135。 Markdown第77—77行。；原书页码：128–134；PDF 文件页码：129–135。 Markdown第69—75行。；原书页码：128–134；PDF 文件页码：129–135。 Markdown第59—77行。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业务全景不能只看一个销售岗位。MTL形成有效线索，IPD把需求变成可销售、可交付的能力，LTC完成履约和回款，ITR解决客户问题。四条流程存在并行和反馈：产品能力影响销售承诺，销售与服务发现的新需求进入产品取舍，客户问题又影响后续供给。图中用客户结果作为中心，连接代表协作与反馈，没有把四条流程排成固定串行顺序。每条流程都需要清楚的最终结果、责任与交接条件。</a:t>
            </a:r>
          </a:p>
          <a:p/>
          <a:p>
            <a:r>
              <a:t>【依据与定位】</a:t>
            </a:r>
          </a:p>
          <a:p>
            <a:r>
              <a:t>上册第三章｜端到端流程与组织协同</a:t>
            </a:r>
          </a:p>
          <a:p>
            <a:r>
              <a:t>上册-研究报告/03-单点提效为何未传导到整体交付.md</a:t>
            </a:r>
          </a:p>
          <a:p>
            <a:r>
              <a:t>https://github.com/scottzx/ai-in-organization/blob/713f5f442fd199235844b35b02bf806d20914d95/%E4%B8%8A%E5%86%8C-%E7%A0%94%E7%A9%B6%E6%8A%A5%E5%91%8A/03-%E5%8D%95%E7%82%B9%E6%8F%90%E6%95%88%E4%B8%BA%E4%BD%95%E6%9C%AA%E4%BC%A0%E5%AF%BC%E5%88%B0%E6%95%B4%E4%BD%93%E4%BA%A4%E4%BB%98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提出高速路和高速网络的类比，很适合解释组织怎样加快。道路对应明确的任务与交接接口，地图对应能够接续使用的业务事实，通行规则对应权限与决定责任，信号对应状态和异常反馈。人、智能体和程序按当前任务组合，有固定路径的工作沿稳定流程开展，例外交给能处理的人。这个路网先从现有任务和系统连接开始，不要求企业先建一个包含所有功能的大平台。</a:t>
            </a:r>
          </a:p>
          <a:p/>
          <a:p>
            <a:r>
              <a:t>【依据与定位】</a:t>
            </a:r>
          </a:p>
          <a:p>
            <a:r>
              <a:t>上册第三章｜端到端流程与组织协同</a:t>
            </a:r>
          </a:p>
          <a:p>
            <a:r>
              <a:t>上册-研究报告/03-单点提效为何未传导到整体交付.md</a:t>
            </a:r>
          </a:p>
          <a:p>
            <a:r>
              <a:t>https://github.com/scottzx/ai-in-organization/blob/713f5f442fd199235844b35b02bf806d20914d95/%E4%B8%8A%E5%86%8C-%E7%A0%94%E7%A9%B6%E6%8A%A5%E5%91%8A/03-%E5%8D%95%E7%82%B9%E6%8F%90%E6%95%88%E4%B8%BA%E4%BD%95%E6%9C%AA%E4%BC%A0%E5%AF%BC%E5%88%B0%E6%95%B4%E4%BD%93%E4%BA%A4%E4%BB%98.md</a:t>
            </a:r>
          </a:p>
          <a:p>
            <a:r>
              <a:t>上册第四章｜智力飞轮与有效业务周转</a:t>
            </a:r>
          </a:p>
          <a:p>
            <a:r>
              <a:t>上册-研究报告/04-从被动响应到主动触发.md</a:t>
            </a:r>
          </a:p>
          <a:p>
            <a:r>
              <a:t>https://github.com/scottzx/ai-in-organization/blob/713f5f442fd199235844b35b02bf806d20914d95/%E4%B8%8A%E5%86%8C-%E7%A0%94%E7%A9%B6%E6%8A%A5%E5%91%8A/04-%E4%BB%8E%E8%A2%AB%E5%8A%A8%E5%93%8D%E5%BA%94%E5%88%B0%E4%B8%BB%E5%8A%A8%E8%A7%A6%E5%8F%91.md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形成持续作用，关键在于结果怎样进入下一轮。完成任务后，核实产物是否被采用、哪里等待或返工；从中提炼适用方法，修订资料、工具和分工，再在后续任务中验证。上册把这套运行方式称为智力飞轮。经验归档只是起点，真正让下一轮受益的是执行方法发生了改变。这是一套需要企业检验的组织机制；案例提供局部参照，并没有证明整套方案已在一家企业完整运行。</a:t>
            </a:r>
          </a:p>
          <a:p/>
          <a:p>
            <a:r>
              <a:t>【依据与定位】</a:t>
            </a:r>
          </a:p>
          <a:p>
            <a:r>
              <a:t>上册第四章｜智力飞轮与有效业务周转</a:t>
            </a:r>
          </a:p>
          <a:p>
            <a:r>
              <a:t>上册-研究报告/04-从被动响应到主动触发.md</a:t>
            </a:r>
          </a:p>
          <a:p>
            <a:r>
              <a:t>https://github.com/scottzx/ai-in-organization/blob/713f5f442fd199235844b35b02bf806d20914d95/%E4%B8%8A%E5%86%8C-%E7%A0%94%E7%A9%B6%E6%8A%A5%E5%91%8A/04-%E4%BB%8E%E8%A2%AB%E5%8A%A8%E5%93%8D%E5%BA%94%E5%88%B0%E4%B8%BB%E5%8A%A8%E8%A7%A6%E5%8F%91.md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速度为什么值得关注？同样的时间里，如果能够完成更多合格循环，就有机会更早取得有效反馈。这些反馈被吸收进方法与分工，又可能减少后续的重复准备、等待和相同错误，形成积累。我们不把循环计数直接换成学习倍数，也不画未经验证的指数收益曲线。需要检验的是具体哪条反馈改变了什么，是否被后来采用，原问题是否减少，并观察释放的能力是否承接了更多有效业务。</a:t>
            </a:r>
          </a:p>
          <a:p/>
          <a:p>
            <a:r>
              <a:t>【依据与定位】</a:t>
            </a:r>
          </a:p>
          <a:p>
            <a:r>
              <a:t>上册第四章｜智力飞轮与有效业务周转</a:t>
            </a:r>
          </a:p>
          <a:p>
            <a:r>
              <a:t>上册-研究报告/04-从被动响应到主动触发.md</a:t>
            </a:r>
          </a:p>
          <a:p>
            <a:r>
              <a:t>https://github.com/scottzx/ai-in-organization/blob/713f5f442fd199235844b35b02bf806d20914d95/%E4%B8%8A%E5%86%8C-%E7%A0%94%E7%A9%B6%E6%8A%A5%E5%91%8A/04-%E4%BB%8E%E8%A2%AB%E5%8A%A8%E5%93%8D%E5%BA%94%E5%88%B0%E4%B8%BB%E5%8A%A8%E8%A7%A6%E5%8F%91.md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有效完成量除以观察期，记录单位时间内完成并被采用的合格业务循环。同时保留完整周期、单位合格结果投入与经营表现。不同任务层次各自测量，例如一轮方案修改、一条有效线索和一笔合同到回款，不直接加成一个数。这是对上册有效业务周转分析的测量表达，不等同财务库存或资产周转率。比较前后时还应固定质量与范围，并解释需求、人员和下游容量的变化。</a:t>
            </a:r>
          </a:p>
          <a:p/>
          <a:p>
            <a:r>
              <a:t>【依据与定位】</a:t>
            </a:r>
          </a:p>
          <a:p>
            <a:r>
              <a:t>上册第四章｜智力飞轮与有效业务周转</a:t>
            </a:r>
          </a:p>
          <a:p>
            <a:r>
              <a:t>上册-研究报告/04-从被动响应到主动触发.md</a:t>
            </a:r>
          </a:p>
          <a:p>
            <a:r>
              <a:t>https://github.com/scottzx/ai-in-organization/blob/713f5f442fd199235844b35b02bf806d20914d95/%E4%B8%8A%E5%86%8C-%E7%A0%94%E7%A9%B6%E6%8A%A5%E5%91%8A/04-%E4%BB%8E%E8%A2%AB%E5%8A%A8%E5%93%8D%E5%BA%94%E5%88%B0%E4%B8%BB%E5%8A%A8%E8%A7%A6%E5%8F%91.md</a:t>
            </a:r>
          </a:p>
          <a:p>
            <a:r>
              <a:t>上册第五章｜实施、核算与扩展取舍</a:t>
            </a:r>
          </a:p>
          <a:p>
            <a:r>
              <a:t>上册-研究报告/05-行动计划.md</a:t>
            </a:r>
          </a:p>
          <a:p>
            <a:r>
              <a:t>https://github.com/scottzx/ai-in-organization/blob/713f5f442fd199235844b35b02bf806d20914d95/%E4%B8%8A%E5%86%8C-%E7%A0%94%E7%A9%B6%E6%8A%A5%E5%91%8A/05-%E8%A1%8C%E5%8A%A8%E8%AE%A1%E5%88%92.md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道加速后，下游容量可能成为新的瓶颈。更多线索需要销售跟进，更多方案需要审核和客户决定，更多签约需要交付和服务。如果进入量超过承接，等待与返工会把局部节省抵消。流程负责人需要查看排队和逾期，优先改进真正受阻的环节，并按实际能力调整进入量、承诺和资源。周转改善要沿整条链路追到结果，释放时间之后，也要核实有没有承接新的有效业务。</a:t>
            </a:r>
          </a:p>
          <a:p/>
          <a:p>
            <a:r>
              <a:t>【依据与定位】</a:t>
            </a:r>
          </a:p>
          <a:p>
            <a:r>
              <a:t>上册第三章｜端到端流程与组织协同</a:t>
            </a:r>
          </a:p>
          <a:p>
            <a:r>
              <a:t>上册-研究报告/03-单点提效为何未传导到整体交付.md</a:t>
            </a:r>
          </a:p>
          <a:p>
            <a:r>
              <a:t>https://github.com/scottzx/ai-in-organization/blob/713f5f442fd199235844b35b02bf806d20914d95/%E4%B8%8A%E5%86%8C-%E7%A0%94%E7%A9%B6%E6%8A%A5%E5%91%8A/03-%E5%8D%95%E7%82%B9%E6%8F%90%E6%95%88%E4%B8%BA%E4%BD%95%E6%9C%AA%E4%BC%A0%E5%AF%BC%E5%88%B0%E6%95%B4%E4%BD%93%E4%BA%A4%E4%BB%98.md</a:t>
            </a:r>
          </a:p>
          <a:p>
            <a:r>
              <a:t>上册第四章｜智力飞轮与有效业务周转</a:t>
            </a:r>
          </a:p>
          <a:p>
            <a:r>
              <a:t>上册-研究报告/04-从被动响应到主动触发.md</a:t>
            </a:r>
          </a:p>
          <a:p>
            <a:r>
              <a:t>https://github.com/scottzx/ai-in-organization/blob/713f5f442fd199235844b35b02bf806d20914d95/%E4%B8%8A%E5%86%8C-%E7%A0%94%E7%A9%B6%E6%8A%A5%E5%91%8A/04-%E4%BB%8E%E8%A2%AB%E5%8A%A8%E5%93%8D%E5%BA%94%E5%88%B0%E4%B8%BB%E5%8A%A8%E8%A7%A6%E5%8F%91.md</a:t>
            </a:r>
          </a:p>
          <a:p>
            <a:r>
              <a:t>上册第五章｜实施、核算与扩展取舍</a:t>
            </a:r>
          </a:p>
          <a:p>
            <a:r>
              <a:t>上册-研究报告/05-行动计划.md</a:t>
            </a:r>
          </a:p>
          <a:p>
            <a:r>
              <a:t>https://github.com/scottzx/ai-in-organization/blob/713f5f442fd199235844b35b02bf806d20914d95/%E4%B8%8A%E5%86%8C-%E7%A0%94%E7%A9%B6%E6%8A%A5%E5%91%8A/05-%E8%A1%8C%E5%8A%A8%E8%AE%A1%E5%88%92.md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把快作为经营抓手，资源判断也会变化。谈规模，不只看人数和存量，也看资源实际能完成多少有效业务。判断一项能力贵不贵，关注它能否缩短关键等待、改善交付，并覆盖完整投入。人的作用则包括专业知识支持的判断、授权决定、组织接力与异常处理。这里是经营判断重心的调整，不是宣称小公司一定胜过大公司，或未来不再需要专业知识。实际优势仍取决于需求、产品、质量和可承接能力。</a:t>
            </a:r>
          </a:p>
          <a:p/>
          <a:p>
            <a:r>
              <a:t>【依据与定位】</a:t>
            </a:r>
          </a:p>
          <a:p>
            <a:r>
              <a:t>上册第一章｜执行能力的新选择</a:t>
            </a:r>
          </a:p>
          <a:p>
            <a:r>
              <a:t>上册-研究报告/01-智力即服务.md</a:t>
            </a:r>
          </a:p>
          <a:p>
            <a:r>
              <a:t>https://github.com/scottzx/ai-in-organization/blob/713f5f442fd199235844b35b02bf806d20914d95/%E4%B8%8A%E5%86%8C-%E7%A0%94%E7%A9%B6%E6%8A%A5%E5%91%8A/01-%E6%99%BA%E5%8A%9B%E5%8D%B3%E6%9C%8D%E5%8A%A1.md</a:t>
            </a:r>
          </a:p>
          <a:p>
            <a:r>
              <a:t>上册第三章｜端到端流程与组织协同</a:t>
            </a:r>
          </a:p>
          <a:p>
            <a:r>
              <a:t>上册-研究报告/03-单点提效为何未传导到整体交付.md</a:t>
            </a:r>
          </a:p>
          <a:p>
            <a:r>
              <a:t>https://github.com/scottzx/ai-in-organization/blob/713f5f442fd199235844b35b02bf806d20914d95/%E4%B8%8A%E5%86%8C-%E7%A0%94%E7%A9%B6%E6%8A%A5%E5%91%8A/03-%E5%8D%95%E7%82%B9%E6%8F%90%E6%95%88%E4%B8%BA%E4%BD%95%E6%9C%AA%E4%BC%A0%E5%AF%BC%E5%88%B0%E6%95%B4%E4%BD%93%E4%BA%A4%E4%BB%98.md</a:t>
            </a:r>
          </a:p>
          <a:p>
            <a:r>
              <a:t>上册第四章｜智力飞轮与有效业务周转</a:t>
            </a:r>
          </a:p>
          <a:p>
            <a:r>
              <a:t>上册-研究报告/04-从被动响应到主动触发.md</a:t>
            </a:r>
          </a:p>
          <a:p>
            <a:r>
              <a:t>https://github.com/scottzx/ai-in-organization/blob/713f5f442fd199235844b35b02bf806d20914d95/%E4%B8%8A%E5%86%8C-%E7%A0%94%E7%A9%B6%E6%8A%A5%E5%91%8A/04-%E4%BB%8E%E8%A2%AB%E5%8A%A8%E5%93%8D%E5%BA%94%E5%88%B0%E4%B8%BB%E5%8A%A8%E8%A7%A6%E5%8F%91.md</a:t>
            </a:r>
          </a:p>
          <a:p>
            <a:r>
              <a:t>上册第五章｜实施、核算与扩展取舍</a:t>
            </a:r>
          </a:p>
          <a:p>
            <a:r>
              <a:t>上册-研究报告/05-行动计划.md</a:t>
            </a:r>
          </a:p>
          <a:p>
            <a:r>
              <a:t>https://github.com/scottzx/ai-in-organization/blob/713f5f442fd199235844b35b02bf806d20914d95/%E4%B8%8A%E5%86%8C-%E7%A0%94%E7%A9%B6%E6%8A%A5%E5%91%8A/05-%E8%A1%8C%E5%8A%A8%E8%AE%A1%E5%88%92.md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把方案落到企业下一步。选一个经常发生、明确受阻的业务范围，约定开始和结束，说明要改善什么。指定对完整结果负责的人，记录输入、产物、验收与接手，再用真实任务运行。人工核验、返工、工具、维护和建设都计入相应投入。复盘时按实际采用、质量、价值与条件决定扩展、调整或停止。扩展时继续核实新任务的条件和下游容量。一次可验收的循环，是建立整套运行机制的起点。</a:t>
            </a:r>
          </a:p>
          <a:p/>
          <a:p>
            <a:r>
              <a:t>【依据与定位】</a:t>
            </a:r>
          </a:p>
          <a:p>
            <a:r>
              <a:t>上册第五章｜实施、核算与扩展取舍</a:t>
            </a:r>
          </a:p>
          <a:p>
            <a:r>
              <a:t>上册-研究报告/05-行动计划.md</a:t>
            </a:r>
          </a:p>
          <a:p>
            <a:r>
              <a:t>https://github.com/scottzx/ai-in-organization/blob/713f5f442fd199235844b35b02bf806d20914d95/%E4%B8%8A%E5%86%8C-%E7%A0%94%E7%A9%B6%E6%8A%A5%E5%91%8A/05-%E8%A1%8C%E5%8A%A8%E8%AE%A1%E5%88%92.md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一个字结束，也用一个动作开始。快是这次给企业的解决方案主线：决策快、试错快、复制快、切换快。真正的改变发生在业务完成一轮，结果被采用，反馈又改善了下一轮。今天可以先选定一个客户结果，指定完整循环负责人，约定复盘和下一步决定。我们追求的是能够持续带来价值的有效业务周转。</a:t>
            </a:r>
          </a:p>
          <a:p/>
          <a:p>
            <a:r>
              <a:t>【依据与定位】</a:t>
            </a:r>
          </a:p>
          <a:p>
            <a:r>
              <a:t>上册第四章｜智力飞轮与有效业务周转</a:t>
            </a:r>
          </a:p>
          <a:p>
            <a:r>
              <a:t>上册-研究报告/04-从被动响应到主动触发.md</a:t>
            </a:r>
          </a:p>
          <a:p>
            <a:r>
              <a:t>https://github.com/scottzx/ai-in-organization/blob/713f5f442fd199235844b35b02bf806d20914d95/%E4%B8%8A%E5%86%8C-%E7%A0%94%E7%A9%B6%E6%8A%A5%E5%91%8A/04-%E4%BB%8E%E8%A2%AB%E5%8A%A8%E5%93%8D%E5%BA%94%E5%88%B0%E4%B8%BB%E5%8A%A8%E8%A7%A6%E5%8F%91.md</a:t>
            </a:r>
          </a:p>
          <a:p>
            <a:r>
              <a:t>上册第五章｜实施、核算与扩展取舍</a:t>
            </a:r>
          </a:p>
          <a:p>
            <a:r>
              <a:t>上册-研究报告/05-行动计划.md</a:t>
            </a:r>
          </a:p>
          <a:p>
            <a:r>
              <a:t>https://github.com/scottzx/ai-in-organization/blob/713f5f442fd199235844b35b02bf806d20914d95/%E4%B8%8A%E5%86%8C-%E7%A0%94%E7%A9%B6%E6%8A%A5%E5%91%8A/05-%E8%A1%8C%E5%8A%A8%E8%AE%A1%E5%88%92.md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用于讨论和后续试点。决策记录从信号或问题接收到授权决定，依据齐备作为中间节点；试错记录从本轮试验决定到可用结果和复盘，实际试验启动作为中间节点。这样资料准备与组织试验的等待也被计入。复制记录从新任务取得已验证方法到产物被采用；切换记录从新约束确认到调整方案生效并恢复承接。每项同时看质量、采用、投入和业务后果，不做脱离业务的统一速度排名。指标由企业按具体范围选定。</a:t>
            </a:r>
          </a:p>
          <a:p/>
          <a:p>
            <a:r>
              <a:t>【依据与定位】</a:t>
            </a:r>
          </a:p>
          <a:p>
            <a:r>
              <a:t>上册第三章｜端到端流程与组织协同</a:t>
            </a:r>
          </a:p>
          <a:p>
            <a:r>
              <a:t>上册-研究报告/03-单点提效为何未传导到整体交付.md</a:t>
            </a:r>
          </a:p>
          <a:p>
            <a:r>
              <a:t>https://github.com/scottzx/ai-in-organization/blob/713f5f442fd199235844b35b02bf806d20914d95/%E4%B8%8A%E5%86%8C-%E7%A0%94%E7%A9%B6%E6%8A%A5%E5%91%8A/03-%E5%8D%95%E7%82%B9%E6%8F%90%E6%95%88%E4%B8%BA%E4%BD%95%E6%9C%AA%E4%BC%A0%E5%AF%BC%E5%88%B0%E6%95%B4%E4%BD%93%E4%BA%A4%E4%BB%98.md</a:t>
            </a:r>
          </a:p>
          <a:p>
            <a:r>
              <a:t>上册第四章｜智力飞轮与有效业务周转</a:t>
            </a:r>
          </a:p>
          <a:p>
            <a:r>
              <a:t>上册-研究报告/04-从被动响应到主动触发.md</a:t>
            </a:r>
          </a:p>
          <a:p>
            <a:r>
              <a:t>https://github.com/scottzx/ai-in-organization/blob/713f5f442fd199235844b35b02bf806d20914d95/%E4%B8%8A%E5%86%8C-%E7%A0%94%E7%A9%B6%E6%8A%A5%E5%91%8A/04-%E4%BB%8E%E8%A2%AB%E5%8A%A8%E5%93%8D%E5%BA%94%E5%88%B0%E4%B8%BB%E5%8A%A8%E8%A7%A6%E5%8F%91.md</a:t>
            </a:r>
          </a:p>
          <a:p>
            <a:r>
              <a:t>上册第五章｜实施、核算与扩展取舍</a:t>
            </a:r>
          </a:p>
          <a:p>
            <a:r>
              <a:t>上册-研究报告/05-行动计划.md</a:t>
            </a:r>
          </a:p>
          <a:p>
            <a:r>
              <a:t>https://github.com/scottzx/ai-in-organization/blob/713f5f442fd199235844b35b02bf806d20914d95/%E4%B8%8A%E5%86%8C-%E7%A0%94%E7%A9%B6%E6%8A%A5%E5%91%8A/05-%E8%A1%8C%E5%8A%A8%E8%AE%A1%E5%88%92.md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份演示根据当前上册的分析与对应下册案例整理。四种快与指标表达属于本次演示的管理归纳，案例数字沿用原有阶段和口径。上册第4章提供有效业务周转和智力飞轮的核心定义，第5章提供试点、核算和扩展停止的实施安排。案例原始来源为公开访谈或实施者自述；逐页备注与配套讲稿列出了对应定位，便于后续核查。</a:t>
            </a:r>
          </a:p>
          <a:p/>
          <a:p>
            <a:r>
              <a:t>【依据与定位】</a:t>
            </a:r>
          </a:p>
          <a:p>
            <a:r>
              <a:t>上册第一章｜执行能力的新选择</a:t>
            </a:r>
          </a:p>
          <a:p>
            <a:r>
              <a:t>上册-研究报告/01-智力即服务.md</a:t>
            </a:r>
          </a:p>
          <a:p>
            <a:r>
              <a:t>https://github.com/scottzx/ai-in-organization/blob/713f5f442fd199235844b35b02bf806d20914d95/%E4%B8%8A%E5%86%8C-%E7%A0%94%E7%A9%B6%E6%8A%A5%E5%91%8A/01-%E6%99%BA%E5%8A%9B%E5%8D%B3%E6%9C%8D%E5%8A%A1.md</a:t>
            </a:r>
          </a:p>
          <a:p>
            <a:r>
              <a:t>上册第二章｜MTL岗位任务与能力沉淀</a:t>
            </a:r>
          </a:p>
          <a:p>
            <a:r>
              <a:t>上册-研究报告/02-最小执行单位-从人到任务.md</a:t>
            </a:r>
          </a:p>
          <a:p>
            <a:r>
              <a:t>https://github.com/scottzx/ai-in-organization/blob/713f5f442fd199235844b35b02bf806d20914d95/%E4%B8%8A%E5%86%8C-%E7%A0%94%E7%A9%B6%E6%8A%A5%E5%91%8A/02-%E6%9C%80%E5%B0%8F%E6%89%A7%E8%A1%8C%E5%8D%95%E4%BD%8D-%E4%BB%8E%E4%BA%BA%E5%88%B0%E4%BB%BB%E5%8A%A1.md</a:t>
            </a:r>
          </a:p>
          <a:p>
            <a:r>
              <a:t>上册第三章｜端到端流程与组织协同</a:t>
            </a:r>
          </a:p>
          <a:p>
            <a:r>
              <a:t>上册-研究报告/03-单点提效为何未传导到整体交付.md</a:t>
            </a:r>
          </a:p>
          <a:p>
            <a:r>
              <a:t>https://github.com/scottzx/ai-in-organization/blob/713f5f442fd199235844b35b02bf806d20914d95/%E4%B8%8A%E5%86%8C-%E7%A0%94%E7%A9%B6%E6%8A%A5%E5%91%8A/03-%E5%8D%95%E7%82%B9%E6%8F%90%E6%95%88%E4%B8%BA%E4%BD%95%E6%9C%AA%E4%BC%A0%E5%AF%BC%E5%88%B0%E6%95%B4%E4%BD%93%E4%BA%A4%E4%BB%98.md</a:t>
            </a:r>
          </a:p>
          <a:p>
            <a:r>
              <a:t>上册第四章｜智力飞轮与有效业务周转</a:t>
            </a:r>
          </a:p>
          <a:p>
            <a:r>
              <a:t>上册-研究报告/04-从被动响应到主动触发.md</a:t>
            </a:r>
          </a:p>
          <a:p>
            <a:r>
              <a:t>https://github.com/scottzx/ai-in-organization/blob/713f5f442fd199235844b35b02bf806d20914d95/%E4%B8%8A%E5%86%8C-%E7%A0%94%E7%A9%B6%E6%8A%A5%E5%91%8A/04-%E4%BB%8E%E8%A2%AB%E5%8A%A8%E5%93%8D%E5%BA%94%E5%88%B0%E4%B8%BB%E5%8A%A8%E8%A7%A6%E5%8F%91.md</a:t>
            </a:r>
          </a:p>
          <a:p>
            <a:r>
              <a:t>上册第五章｜实施、核算与扩展取舍</a:t>
            </a:r>
          </a:p>
          <a:p>
            <a:r>
              <a:t>上册-研究报告/05-行动计划.md</a:t>
            </a:r>
          </a:p>
          <a:p>
            <a:r>
              <a:t>https://github.com/scottzx/ai-in-organization/blob/713f5f442fd199235844b35b02bf806d20914d95/%E4%B8%8A%E5%86%8C-%E7%A0%94%E7%A9%B6%E6%8A%A5%E5%91%8A/05-%E8%A1%8C%E5%8A%A8%E8%AE%A1%E5%88%92.md</a:t>
            </a:r>
          </a:p>
          <a:p>
            <a:r>
              <a:t>上册结语｜认识与适用范围</a:t>
            </a:r>
          </a:p>
          <a:p>
            <a:r>
              <a:t>上册-研究报告/06-结语.md</a:t>
            </a:r>
          </a:p>
          <a:p>
            <a:r>
              <a:t>https://github.com/scottzx/ai-in-organization/blob/713f5f442fd199235844b35b02bf806d20914d95/%E4%B8%8A%E5%86%8C-%E7%A0%94%E7%A9%B6%E6%8A%A5%E5%91%8A/06-%E7%BB%93%E8%AF%AD.md</a:t>
            </a:r>
          </a:p>
          <a:p>
            <a:r>
              <a:t>澳洲乳企海外动销分析</a:t>
            </a:r>
          </a:p>
          <a:p>
            <a:r>
              <a:t>下册-案例汇编/C-制造业/C11-澳洲乳企海外动销分析.md#c-24-f01｜阶段：局部使用</a:t>
            </a:r>
          </a:p>
          <a:p>
            <a:r>
              <a:t>https://assets.datawhale.cn/Datawhale%20FDE%E6%A1%88%E4%BE%8B100.pdf#page=234</a:t>
            </a:r>
          </a:p>
          <a:p>
            <a:r>
              <a:t>原书页码：233–243；PDF 文件页码：234–244。 Markdown第75—81行。；原书页码：233–243；PDF 文件页码：234–244。 Markdown第95—101行。；原书页码：233–243；PDF 文件页码：234–244。 Markdown第103—107行。；原书页码：233–243；PDF 文件页码：234–244。 Markdown第147—155行。；原书页码：233–243；PDF 文件页码：234–244。 Markdown第111—117行。；原书页码：233–243；PDF 文件页码：234–244。 Markdown第123—129行。；原书页码：233–243；PDF 文件页码：234–244。 Markdown第95—107行。；原书页码：233–243；PDF 文件页码：234–244。 Markdown第123—133行。</a:t>
            </a:r>
          </a:p>
          <a:p>
            <a:r>
              <a:t>温州连锁烘焙企业AI经营管理</a:t>
            </a:r>
          </a:p>
          <a:p>
            <a:r>
              <a:t>下册-案例汇编/F-批发与零售业/F11-温州连锁烘焙企业AI经营管理.md#s-31-f01｜阶段：局部使用</a:t>
            </a:r>
          </a:p>
          <a:p>
            <a:r>
              <a:t>https://www.douyin.com/video/7659990680017603878</a:t>
            </a:r>
          </a:p>
          <a:p>
            <a:r>
              <a:t>00:05:11.390；00:05:31.630</a:t>
            </a:r>
          </a:p>
          <a:p>
            <a:r>
              <a:t>兴城泳装AI商拍服务</a:t>
            </a:r>
          </a:p>
          <a:p>
            <a:r>
              <a:t>下册-案例汇编/I-信息传输软件与信息技术服务业/I01-兴城泳装AI商拍服务.md#s-28-f01｜阶段：试点</a:t>
            </a:r>
          </a:p>
          <a:p>
            <a:r>
              <a:t>https://www.douyin.com/video/7678014973284486419</a:t>
            </a:r>
          </a:p>
          <a:p>
            <a:r>
              <a:t>00:02:44.880；00:04:22.170</a:t>
            </a:r>
          </a:p>
          <a:p>
            <a:r>
              <a:t>TikTok达人运营AI协作</a:t>
            </a:r>
          </a:p>
          <a:p>
            <a:r>
              <a:t>下册-案例汇编/L-租赁与商务服务业/L01-TikTok达人运营AI协作.md#c-05-f01｜阶段：试点</a:t>
            </a:r>
          </a:p>
          <a:p>
            <a:r>
              <a:t>https://assets.datawhale.cn/Datawhale%20FDE%E6%A1%88%E4%BE%8B100.pdf#page=47</a:t>
            </a:r>
          </a:p>
          <a:p>
            <a:r>
              <a:t>原书页码：46–54；PDF 文件页码：47–55。 Markdown第65—75行。；原书页码：46–54；PDF 文件页码：47–55。 Markdown第77—83行。；原书页码：46–54；PDF 文件页码：47–55。 Markdown第85—97行。；原书页码：46–54；PDF 文件页码：47–55。 Markdown第101—111行。；原书页码：46–54；PDF 文件页码：47–55。 Markdown第45—51行。；原书页码：46–54；PDF 文件页码：47–55。 Markdown第117—121行。</a:t>
            </a:r>
          </a:p>
          <a:p>
            <a:r>
              <a:t>CGL招聘AI协作</a:t>
            </a:r>
          </a:p>
          <a:p>
            <a:r>
              <a:t>下册-案例汇编/L-租赁与商务服务业/L05-CGL招聘AI协作.md#s-20-f02｜阶段：局部使用</a:t>
            </a:r>
          </a:p>
          <a:p>
            <a:r>
              <a:t>https://www.douyin.com/video/7672652135388974399</a:t>
            </a:r>
          </a:p>
          <a:p>
            <a:r>
              <a:t>00:08:46.930</a:t>
            </a:r>
          </a:p>
          <a:p>
            <a:r>
              <a:t>消防维保企业数字化项目取舍</a:t>
            </a:r>
          </a:p>
          <a:p>
            <a:r>
              <a:t>下册-案例汇编/M-科学研究与技术服务业/M02-消防维保企业数字化项目取舍.md#c-13-f01｜阶段：局部使用</a:t>
            </a:r>
          </a:p>
          <a:p>
            <a:r>
              <a:t>https://assets.datawhale.cn/Datawhale%20FDE%E6%A1%88%E4%BE%8B100.pdf#page=129</a:t>
            </a:r>
          </a:p>
          <a:p>
            <a:r>
              <a:t>原书页码：128–134；PDF 文件页码：129–135。 Markdown第51—59行。；原书页码：128–134；PDF 文件页码：129–135。 Markdown第59—65行。；原书页码：128–134；PDF 文件页码：129–135。 Markdown第77—77行。；原书页码：128–134；PDF 文件页码：129–135。 Markdown第69—75行。；原书页码：128–134；PDF 文件页码：129–135。 Markdown第59—77行。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cottzx/ai-in-organization/blob/713f5f442fd199235844b35b02bf806d20914d95/%E4%B8%8A%E5%86%8C-%E7%A0%94%E7%A9%B6%E6%8A%A5%E5%91%8A/04-%E4%BB%8E%E8%A2%AB%E5%8A%A8%E5%93%8D%E5%BA%94%E5%88%B0%E4%B8%BB%E5%8A%A8%E8%A7%A6%E5%8F%91.md" TargetMode="Externa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cottzx/ai-in-organization/blob/713f5f442fd199235844b35b02bf806d20914d95/%E4%B8%8A%E5%86%8C-%E7%A0%94%E7%A9%B6%E6%8A%A5%E5%91%8A/01-%E6%99%BA%E5%8A%9B%E5%8D%B3%E6%9C%8D%E5%8A%A1.md" TargetMode="Externa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ouyin.com/video/7678014973284486419" TargetMode="Externa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cottzx/ai-in-organization/blob/713f5f442fd199235844b35b02bf806d20914d95/%E4%B8%8A%E5%86%8C-%E7%A0%94%E7%A9%B6%E6%8A%A5%E5%91%8A/02-%E6%9C%80%E5%B0%8F%E6%89%A7%E8%A1%8C%E5%8D%95%E4%BD%8D-%E4%BB%8E%E4%BA%BA%E5%88%B0%E4%BB%BB%E5%8A%A1.md" TargetMode="Externa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cottzx/ai-in-organization/blob/713f5f442fd199235844b35b02bf806d20914d95/%E4%B8%8A%E5%86%8C-%E7%A0%94%E7%A9%B6%E6%8A%A5%E5%91%8A/03-%E5%8D%95%E7%82%B9%E6%8F%90%E6%95%88%E4%B8%BA%E4%BD%95%E6%9C%AA%E4%BC%A0%E5%AF%BC%E5%88%B0%E6%95%B4%E4%BD%93%E4%BA%A4%E4%BB%98.md" TargetMode="Externa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ssets.datawhale.cn/Datawhale%20FDE%E6%A1%88%E4%BE%8B100.pdf#page=234" TargetMode="Externa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ouyin.com/video/7659990680017603878" TargetMode="Externa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ssets.datawhale.cn/Datawhale%20FDE%E6%A1%88%E4%BE%8B100.pdf#page=47" TargetMode="Externa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ouyin.com/video/7672652135388974399" TargetMode="Externa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ssets.datawhale.cn/Datawhale%20FDE%E6%A1%88%E4%BE%8B100.pdf#page=129" TargetMode="Externa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cottzx/ai-in-organization/blob/713f5f442fd199235844b35b02bf806d20914d95/%E4%B8%8A%E5%86%8C-%E7%A0%94%E7%A9%B6%E6%8A%A5%E5%91%8A/03-%E5%8D%95%E7%82%B9%E6%8F%90%E6%95%88%E4%B8%BA%E4%BD%95%E6%9C%AA%E4%BC%A0%E5%AF%BC%E5%88%B0%E6%95%B4%E4%BD%93%E4%BA%A4%E4%BB%98.md" TargetMode="Externa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cottzx/ai-in-organization/blob/713f5f442fd199235844b35b02bf806d20914d95/%E4%B8%8A%E5%86%8C-%E7%A0%94%E7%A9%B6%E6%8A%A5%E5%91%8A/03-%E5%8D%95%E7%82%B9%E6%8F%90%E6%95%88%E4%B8%BA%E4%BD%95%E6%9C%AA%E4%BC%A0%E5%AF%BC%E5%88%B0%E6%95%B4%E4%BD%93%E4%BA%A4%E4%BB%98.md" TargetMode="Externa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cottzx/ai-in-organization/blob/713f5f442fd199235844b35b02bf806d20914d95/%E4%B8%8A%E5%86%8C-%E7%A0%94%E7%A9%B6%E6%8A%A5%E5%91%8A/04-%E4%BB%8E%E8%A2%AB%E5%8A%A8%E5%93%8D%E5%BA%94%E5%88%B0%E4%B8%BB%E5%8A%A8%E8%A7%A6%E5%8F%91.md" TargetMode="Externa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cottzx/ai-in-organization/blob/713f5f442fd199235844b35b02bf806d20914d95/%E4%B8%8A%E5%86%8C-%E7%A0%94%E7%A9%B6%E6%8A%A5%E5%91%8A/04-%E4%BB%8E%E8%A2%AB%E5%8A%A8%E5%93%8D%E5%BA%94%E5%88%B0%E4%B8%BB%E5%8A%A8%E8%A7%A6%E5%8F%91.md" TargetMode="Externa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cottzx/ai-in-organization/blob/713f5f442fd199235844b35b02bf806d20914d95/%E4%B8%8A%E5%86%8C-%E7%A0%94%E7%A9%B6%E6%8A%A5%E5%91%8A/04-%E4%BB%8E%E8%A2%AB%E5%8A%A8%E5%93%8D%E5%BA%94%E5%88%B0%E4%B8%BB%E5%8A%A8%E8%A7%A6%E5%8F%91.md" TargetMode="Externa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cottzx/ai-in-organization/blob/713f5f442fd199235844b35b02bf806d20914d95/%E4%B8%8A%E5%86%8C-%E7%A0%94%E7%A9%B6%E6%8A%A5%E5%91%8A/03-%E5%8D%95%E7%82%B9%E6%8F%90%E6%95%88%E4%B8%BA%E4%BD%95%E6%9C%AA%E4%BC%A0%E5%AF%BC%E5%88%B0%E6%95%B4%E4%BD%93%E4%BA%A4%E4%BB%98.md" TargetMode="Externa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cottzx/ai-in-organization/blob/713f5f442fd199235844b35b02bf806d20914d95/%E4%B8%8A%E5%86%8C-%E7%A0%94%E7%A9%B6%E6%8A%A5%E5%91%8A/01-%E6%99%BA%E5%8A%9B%E5%8D%B3%E6%9C%8D%E5%8A%A1.md" TargetMode="Externa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cottzx/ai-in-organization/blob/713f5f442fd199235844b35b02bf806d20914d95/%E4%B8%8A%E5%86%8C-%E7%A0%94%E7%A9%B6%E6%8A%A5%E5%91%8A/05-%E8%A1%8C%E5%8A%A8%E8%AE%A1%E5%88%92.md" TargetMode="Externa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cottzx/ai-in-organization/blob/713f5f442fd199235844b35b02bf806d20914d95/%E4%B8%8A%E5%86%8C-%E7%A0%94%E7%A9%B6%E6%8A%A5%E5%91%8A/03-%E5%8D%95%E7%82%B9%E6%8F%90%E6%95%88%E4%B8%BA%E4%BD%95%E6%9C%AA%E4%BC%A0%E5%AF%BC%E5%88%B0%E6%95%B4%E4%BD%93%E4%BA%A4%E4%BB%98.md" TargetMode="Externa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ssets.datawhale.cn/Datawhale%20FDE%E6%A1%88%E4%BE%8B100.pdf#page=234" TargetMode="External"/><Relationship Id="rId3" Type="http://schemas.openxmlformats.org/officeDocument/2006/relationships/notesSlide" Target="../notesSlides/notesSlide22.xml"/><Relationship Id="rId4" Type="http://schemas.openxmlformats.org/officeDocument/2006/relationships/hyperlink" Target="https://www.douyin.com/video/7678014973284486419" TargetMode="External"/><Relationship Id="rId5" Type="http://schemas.openxmlformats.org/officeDocument/2006/relationships/hyperlink" Target="https://www.douyin.com/video/7659990680017603878" TargetMode="External"/><Relationship Id="rId6" Type="http://schemas.openxmlformats.org/officeDocument/2006/relationships/hyperlink" Target="https://assets.datawhale.cn/Datawhale%20FDE%E6%A1%88%E4%BE%8B100.pdf#page=47" TargetMode="External"/><Relationship Id="rId7" Type="http://schemas.openxmlformats.org/officeDocument/2006/relationships/hyperlink" Target="https://www.douyin.com/video/7672652135388974399" TargetMode="External"/><Relationship Id="rId8" Type="http://schemas.openxmlformats.org/officeDocument/2006/relationships/hyperlink" Target="https://assets.datawhale.cn/Datawhale%20FDE%E6%A1%88%E4%BE%8B100.pdf#page=129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13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6382512"/>
            <a:ext cx="11009376" cy="0"/>
          </a:xfrm>
          <a:prstGeom prst="line">
            <a:avLst/>
          </a:prstGeom>
          <a:ln w="8890">
            <a:solidFill>
              <a:srgbClr val="365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1"/>
          <p:cNvSpPr txBox="1"/>
          <p:nvPr/>
        </p:nvSpPr>
        <p:spPr>
          <a:xfrm>
            <a:off x="594360" y="6473952"/>
            <a:ext cx="105613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6C9E4"/>
                </a:solidFill>
                <a:latin typeface="Noto Sans CJK SC"/>
                <a:ea typeface="Noto Sans CJK SC"/>
              </a:rPr>
              <a:t>基于《企业数智化转型研究报告》上册 v8.0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83112" y="6446520"/>
            <a:ext cx="42062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6C9E4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749808" y="667512"/>
            <a:ext cx="612648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  <a:ea typeface="Noto Sans CJK SC"/>
              </a:rPr>
              <a:t>解决方案，就是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548640" y="1271016"/>
            <a:ext cx="5623560" cy="35204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0" b="1">
                <a:solidFill>
                  <a:srgbClr val="5CB8FF"/>
                </a:solidFill>
                <a:latin typeface="Noto Sans CJK SC"/>
                <a:ea typeface="Noto Sans CJK SC"/>
              </a:rPr>
              <a:t>快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813816" y="4846320"/>
            <a:ext cx="571500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  <a:ea typeface="Noto Sans CJK SC"/>
              </a:rPr>
              <a:t>让企业更快完成有效业务循环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841248" y="5559552"/>
            <a:ext cx="53035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6C9E4"/>
                </a:solidFill>
                <a:latin typeface="Noto Sans CJK SC"/>
                <a:ea typeface="Noto Sans CJK SC"/>
              </a:rPr>
              <a:t>20分钟主题分享  ·  2026.10.14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34072" y="1527048"/>
            <a:ext cx="3566160" cy="813816"/>
          </a:xfrm>
          <a:prstGeom prst="roundRect">
            <a:avLst>
              <a:gd name="adj" fmla="val 12000"/>
            </a:avLst>
          </a:prstGeom>
          <a:solidFill>
            <a:srgbClr val="1D3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 7"/>
          <p:cNvSpPr txBox="1"/>
          <p:nvPr/>
        </p:nvSpPr>
        <p:spPr>
          <a:xfrm>
            <a:off x="7607808" y="1673351"/>
            <a:ext cx="457200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CB8FF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1" name="Text 8"/>
          <p:cNvSpPr txBox="1"/>
          <p:nvPr/>
        </p:nvSpPr>
        <p:spPr>
          <a:xfrm>
            <a:off x="8238744" y="1636776"/>
            <a:ext cx="2423160" cy="5577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</a:rPr>
              <a:t>决策快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217152" y="2359152"/>
            <a:ext cx="0" cy="173736"/>
          </a:xfrm>
          <a:prstGeom prst="line">
            <a:avLst/>
          </a:prstGeom>
          <a:ln w="25400">
            <a:solidFill>
              <a:srgbClr val="5573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34072" y="2551176"/>
            <a:ext cx="3566160" cy="813816"/>
          </a:xfrm>
          <a:prstGeom prst="roundRect">
            <a:avLst>
              <a:gd name="adj" fmla="val 12000"/>
            </a:avLst>
          </a:prstGeom>
          <a:solidFill>
            <a:srgbClr val="1D3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 9"/>
          <p:cNvSpPr txBox="1"/>
          <p:nvPr/>
        </p:nvSpPr>
        <p:spPr>
          <a:xfrm>
            <a:off x="7607808" y="2697480"/>
            <a:ext cx="457200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CB8FF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5" name="Text 10"/>
          <p:cNvSpPr txBox="1"/>
          <p:nvPr/>
        </p:nvSpPr>
        <p:spPr>
          <a:xfrm>
            <a:off x="8238744" y="2660904"/>
            <a:ext cx="2423160" cy="5577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</a:rPr>
              <a:t>试错快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17152" y="3383280"/>
            <a:ext cx="0" cy="173736"/>
          </a:xfrm>
          <a:prstGeom prst="line">
            <a:avLst/>
          </a:prstGeom>
          <a:ln w="25400">
            <a:solidFill>
              <a:srgbClr val="5573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34072" y="3575304"/>
            <a:ext cx="3566160" cy="813816"/>
          </a:xfrm>
          <a:prstGeom prst="roundRect">
            <a:avLst>
              <a:gd name="adj" fmla="val 12000"/>
            </a:avLst>
          </a:prstGeom>
          <a:solidFill>
            <a:srgbClr val="1D3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 11"/>
          <p:cNvSpPr txBox="1"/>
          <p:nvPr/>
        </p:nvSpPr>
        <p:spPr>
          <a:xfrm>
            <a:off x="7607808" y="3721608"/>
            <a:ext cx="457200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CB8FF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19" name="Text 12"/>
          <p:cNvSpPr txBox="1"/>
          <p:nvPr/>
        </p:nvSpPr>
        <p:spPr>
          <a:xfrm>
            <a:off x="8238744" y="3685032"/>
            <a:ext cx="2423160" cy="5577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</a:rPr>
              <a:t>复制快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17152" y="4407408"/>
            <a:ext cx="0" cy="173736"/>
          </a:xfrm>
          <a:prstGeom prst="line">
            <a:avLst/>
          </a:prstGeom>
          <a:ln w="25400">
            <a:solidFill>
              <a:srgbClr val="5573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34072" y="4599432"/>
            <a:ext cx="3566160" cy="813816"/>
          </a:xfrm>
          <a:prstGeom prst="roundRect">
            <a:avLst>
              <a:gd name="adj" fmla="val 12000"/>
            </a:avLst>
          </a:prstGeom>
          <a:solidFill>
            <a:srgbClr val="1D3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 13"/>
          <p:cNvSpPr txBox="1"/>
          <p:nvPr/>
        </p:nvSpPr>
        <p:spPr>
          <a:xfrm>
            <a:off x="7607808" y="4745736"/>
            <a:ext cx="457200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CB8FF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23" name="Text 14"/>
          <p:cNvSpPr txBox="1"/>
          <p:nvPr/>
        </p:nvSpPr>
        <p:spPr>
          <a:xfrm>
            <a:off x="8238744" y="4709160"/>
            <a:ext cx="2423160" cy="5577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</a:rPr>
              <a:t>切换快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5"/>
          <p:cNvSpPr txBox="1"/>
          <p:nvPr/>
        </p:nvSpPr>
        <p:spPr>
          <a:xfrm>
            <a:off x="585216" y="320040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一芥智能研究院  /  企业数智化转型研究报告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768096"/>
            <a:ext cx="64008" cy="566928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16"/>
          <p:cNvSpPr txBox="1"/>
          <p:nvPr/>
        </p:nvSpPr>
        <p:spPr>
          <a:xfrm>
            <a:off x="813816" y="704088"/>
            <a:ext cx="1083564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D48"/>
                </a:solidFill>
                <a:latin typeface="Noto Sans CJK SC"/>
                <a:ea typeface="Noto Sans CJK SC"/>
              </a:rPr>
              <a:t>企业真正需要加快的是一轮业务</a:t>
            </a:r>
          </a:p>
        </p:txBody>
      </p:sp>
      <p:sp>
        <p:nvSpPr>
          <p:cNvPr id="5" name="Text 17"/>
          <p:cNvSpPr txBox="1"/>
          <p:nvPr/>
        </p:nvSpPr>
        <p:spPr>
          <a:xfrm>
            <a:off x="822960" y="1399032"/>
            <a:ext cx="107259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从接到问题，到合格结果被采用，再把反馈送回下一轮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82512"/>
            <a:ext cx="11009376" cy="0"/>
          </a:xfrm>
          <a:prstGeom prst="line">
            <a:avLst/>
          </a:prstGeom>
          <a:ln w="889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18"/>
          <p:cNvSpPr txBox="1"/>
          <p:nvPr/>
        </p:nvSpPr>
        <p:spPr>
          <a:xfrm>
            <a:off x="594360" y="6473952"/>
            <a:ext cx="105613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87"/>
                </a:solidFill>
                <a:latin typeface="Noto Sans CJK SC"/>
                <a:ea typeface="Noto Sans CJK SC"/>
                <a:hlinkClick r:id="rId2"/>
              </a:rPr>
              <a:t>依据：上册4.2.1、4.3｜有效业务周转</a:t>
            </a:r>
          </a:p>
        </p:txBody>
      </p:sp>
      <p:sp>
        <p:nvSpPr>
          <p:cNvPr id="8" name="Text 19"/>
          <p:cNvSpPr txBox="1"/>
          <p:nvPr/>
        </p:nvSpPr>
        <p:spPr>
          <a:xfrm>
            <a:off x="11183112" y="6446520"/>
            <a:ext cx="42062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95728"/>
            <a:ext cx="1914753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 20"/>
          <p:cNvSpPr txBox="1"/>
          <p:nvPr/>
        </p:nvSpPr>
        <p:spPr>
          <a:xfrm>
            <a:off x="749808" y="2505456"/>
            <a:ext cx="1786737" cy="9235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C2D48"/>
                </a:solidFill>
                <a:latin typeface="Noto Sans CJK SC"/>
                <a:ea typeface="Noto Sans CJK SC"/>
              </a:rPr>
              <a:t>接到问题</a:t>
            </a:r>
          </a:p>
        </p:txBody>
      </p:sp>
      <p:sp>
        <p:nvSpPr>
          <p:cNvPr id="11" name="Chevron 10"/>
          <p:cNvSpPr/>
          <p:nvPr/>
        </p:nvSpPr>
        <p:spPr>
          <a:xfrm>
            <a:off x="2669133" y="2884932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11449" y="2395728"/>
            <a:ext cx="1914753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 21"/>
          <p:cNvSpPr txBox="1"/>
          <p:nvPr/>
        </p:nvSpPr>
        <p:spPr>
          <a:xfrm>
            <a:off x="2975457" y="2505456"/>
            <a:ext cx="1786737" cy="9235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C2D48"/>
                </a:solidFill>
                <a:latin typeface="Noto Sans CJK SC"/>
                <a:ea typeface="Noto Sans CJK SC"/>
              </a:rPr>
              <a:t>形成判断</a:t>
            </a:r>
          </a:p>
        </p:txBody>
      </p:sp>
      <p:sp>
        <p:nvSpPr>
          <p:cNvPr id="14" name="Chevron 13"/>
          <p:cNvSpPr/>
          <p:nvPr/>
        </p:nvSpPr>
        <p:spPr>
          <a:xfrm>
            <a:off x="4894783" y="2884932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37099" y="2395728"/>
            <a:ext cx="1914753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 22"/>
          <p:cNvSpPr txBox="1"/>
          <p:nvPr/>
        </p:nvSpPr>
        <p:spPr>
          <a:xfrm>
            <a:off x="5201107" y="2505456"/>
            <a:ext cx="1786737" cy="9235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C2D48"/>
                </a:solidFill>
                <a:latin typeface="Noto Sans CJK SC"/>
                <a:ea typeface="Noto Sans CJK SC"/>
              </a:rPr>
              <a:t>执行任务</a:t>
            </a:r>
          </a:p>
        </p:txBody>
      </p:sp>
      <p:sp>
        <p:nvSpPr>
          <p:cNvPr id="17" name="Chevron 16"/>
          <p:cNvSpPr/>
          <p:nvPr/>
        </p:nvSpPr>
        <p:spPr>
          <a:xfrm>
            <a:off x="7120432" y="2884932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62748" y="2395728"/>
            <a:ext cx="1914753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 23"/>
          <p:cNvSpPr txBox="1"/>
          <p:nvPr/>
        </p:nvSpPr>
        <p:spPr>
          <a:xfrm>
            <a:off x="7426756" y="2505456"/>
            <a:ext cx="1786737" cy="9235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C2D48"/>
                </a:solidFill>
                <a:latin typeface="Noto Sans CJK SC"/>
                <a:ea typeface="Noto Sans CJK SC"/>
              </a:rPr>
              <a:t>验收与采用</a:t>
            </a:r>
          </a:p>
        </p:txBody>
      </p:sp>
      <p:sp>
        <p:nvSpPr>
          <p:cNvPr id="20" name="Chevron 19"/>
          <p:cNvSpPr/>
          <p:nvPr/>
        </p:nvSpPr>
        <p:spPr>
          <a:xfrm>
            <a:off x="9346082" y="2884932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88398" y="2395728"/>
            <a:ext cx="1914753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 24"/>
          <p:cNvSpPr txBox="1"/>
          <p:nvPr/>
        </p:nvSpPr>
        <p:spPr>
          <a:xfrm>
            <a:off x="9652406" y="2505456"/>
            <a:ext cx="1786737" cy="9235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C2D48"/>
                </a:solidFill>
                <a:latin typeface="Noto Sans CJK SC"/>
                <a:ea typeface="Noto Sans CJK SC"/>
              </a:rPr>
              <a:t>反馈进下一轮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524744" y="3657600"/>
            <a:ext cx="0" cy="786384"/>
          </a:xfrm>
          <a:prstGeom prst="line">
            <a:avLst/>
          </a:prstGeom>
          <a:ln w="25400">
            <a:solidFill>
              <a:srgbClr val="286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600200" y="4443984"/>
            <a:ext cx="8924544" cy="0"/>
          </a:xfrm>
          <a:prstGeom prst="line">
            <a:avLst/>
          </a:prstGeom>
          <a:ln w="25400">
            <a:solidFill>
              <a:srgbClr val="286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600200" y="3657600"/>
            <a:ext cx="0" cy="786384"/>
          </a:xfrm>
          <a:prstGeom prst="line">
            <a:avLst/>
          </a:prstGeom>
          <a:ln w="25400">
            <a:solidFill>
              <a:srgbClr val="286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25"/>
          <p:cNvSpPr txBox="1"/>
          <p:nvPr/>
        </p:nvSpPr>
        <p:spPr>
          <a:xfrm>
            <a:off x="3319272" y="3877056"/>
            <a:ext cx="55778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869ED"/>
                </a:solidFill>
                <a:latin typeface="Noto Sans CJK SC"/>
                <a:ea typeface="Noto Sans CJK SC"/>
              </a:rPr>
              <a:t>反馈改变下一轮的输入与方法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" y="5669280"/>
            <a:ext cx="10972800" cy="512064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 26"/>
          <p:cNvSpPr txBox="1"/>
          <p:nvPr/>
        </p:nvSpPr>
        <p:spPr>
          <a:xfrm>
            <a:off x="813816" y="5715000"/>
            <a:ext cx="1057046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69ED"/>
                </a:solidFill>
                <a:latin typeface="Noto Sans CJK SC"/>
                <a:ea typeface="Noto Sans CJK SC"/>
              </a:rPr>
              <a:t>目标：提高单位时间内完成的有效业务循环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27"/>
          <p:cNvSpPr txBox="1"/>
          <p:nvPr/>
        </p:nvSpPr>
        <p:spPr>
          <a:xfrm>
            <a:off x="585216" y="320040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一芥智能研究院  /  企业数智化转型研究报告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768096"/>
            <a:ext cx="64008" cy="566928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28"/>
          <p:cNvSpPr txBox="1"/>
          <p:nvPr/>
        </p:nvSpPr>
        <p:spPr>
          <a:xfrm>
            <a:off x="813816" y="704088"/>
            <a:ext cx="1083564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D48"/>
                </a:solidFill>
                <a:latin typeface="Noto Sans CJK SC"/>
                <a:ea typeface="Noto Sans CJK SC"/>
              </a:rPr>
              <a:t>上册的分析，最后汇到“快”</a:t>
            </a:r>
          </a:p>
        </p:txBody>
      </p:sp>
      <p:sp>
        <p:nvSpPr>
          <p:cNvPr id="5" name="Text 29"/>
          <p:cNvSpPr txBox="1"/>
          <p:nvPr/>
        </p:nvSpPr>
        <p:spPr>
          <a:xfrm>
            <a:off x="822960" y="1399032"/>
            <a:ext cx="107259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执行能力、任务、流程、经验和实施，合起来改变业务周转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82512"/>
            <a:ext cx="11009376" cy="0"/>
          </a:xfrm>
          <a:prstGeom prst="line">
            <a:avLst/>
          </a:prstGeom>
          <a:ln w="889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30"/>
          <p:cNvSpPr txBox="1"/>
          <p:nvPr/>
        </p:nvSpPr>
        <p:spPr>
          <a:xfrm>
            <a:off x="594360" y="6473952"/>
            <a:ext cx="105613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87"/>
                </a:solidFill>
                <a:latin typeface="Noto Sans CJK SC"/>
                <a:ea typeface="Noto Sans CJK SC"/>
                <a:hlinkClick r:id="rId2"/>
              </a:rPr>
              <a:t>依据：上册第一至五章及结语｜本演示的主线归纳</a:t>
            </a:r>
          </a:p>
        </p:txBody>
      </p:sp>
      <p:sp>
        <p:nvSpPr>
          <p:cNvPr id="8" name="Text 31"/>
          <p:cNvSpPr txBox="1"/>
          <p:nvPr/>
        </p:nvSpPr>
        <p:spPr>
          <a:xfrm>
            <a:off x="11183112" y="6446520"/>
            <a:ext cx="42062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" y="1975104"/>
            <a:ext cx="539496" cy="475488"/>
          </a:xfrm>
          <a:prstGeom prst="roundRect">
            <a:avLst>
              <a:gd name="adj" fmla="val 12000"/>
            </a:avLst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 32"/>
          <p:cNvSpPr txBox="1"/>
          <p:nvPr/>
        </p:nvSpPr>
        <p:spPr>
          <a:xfrm>
            <a:off x="859536" y="2002536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1" name="Text 33"/>
          <p:cNvSpPr txBox="1"/>
          <p:nvPr/>
        </p:nvSpPr>
        <p:spPr>
          <a:xfrm>
            <a:off x="1581912" y="1984248"/>
            <a:ext cx="2898648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C2D48"/>
                </a:solidFill>
                <a:latin typeface="Noto Sans CJK SC"/>
                <a:ea typeface="Noto Sans CJK SC"/>
              </a:rPr>
              <a:t>能力可调用</a:t>
            </a:r>
          </a:p>
        </p:txBody>
      </p:sp>
      <p:sp>
        <p:nvSpPr>
          <p:cNvPr id="12" name="Text 34"/>
          <p:cNvSpPr txBox="1"/>
          <p:nvPr/>
        </p:nvSpPr>
        <p:spPr>
          <a:xfrm>
            <a:off x="4617720" y="2029968"/>
            <a:ext cx="40416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C87"/>
                </a:solidFill>
                <a:latin typeface="Noto Sans CJK SC"/>
                <a:ea typeface="Noto Sans CJK SC"/>
              </a:rPr>
              <a:t>扩大执行选择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" y="2670048"/>
            <a:ext cx="539496" cy="475488"/>
          </a:xfrm>
          <a:prstGeom prst="roundRect">
            <a:avLst>
              <a:gd name="adj" fmla="val 12000"/>
            </a:avLst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 35"/>
          <p:cNvSpPr txBox="1"/>
          <p:nvPr/>
        </p:nvSpPr>
        <p:spPr>
          <a:xfrm>
            <a:off x="859536" y="2697479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5" name="Text 36"/>
          <p:cNvSpPr txBox="1"/>
          <p:nvPr/>
        </p:nvSpPr>
        <p:spPr>
          <a:xfrm>
            <a:off x="1581912" y="2679191"/>
            <a:ext cx="2898648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C2D48"/>
                </a:solidFill>
                <a:latin typeface="Noto Sans CJK SC"/>
                <a:ea typeface="Noto Sans CJK SC"/>
              </a:rPr>
              <a:t>任务可拆分</a:t>
            </a:r>
          </a:p>
        </p:txBody>
      </p:sp>
      <p:sp>
        <p:nvSpPr>
          <p:cNvPr id="16" name="Text 37"/>
          <p:cNvSpPr txBox="1"/>
          <p:nvPr/>
        </p:nvSpPr>
        <p:spPr>
          <a:xfrm>
            <a:off x="4617720" y="2724912"/>
            <a:ext cx="40416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C87"/>
                </a:solidFill>
                <a:latin typeface="Noto Sans CJK SC"/>
                <a:ea typeface="Noto Sans CJK SC"/>
              </a:rPr>
              <a:t>明确产物和分工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" y="3364992"/>
            <a:ext cx="539496" cy="475488"/>
          </a:xfrm>
          <a:prstGeom prst="roundRect">
            <a:avLst>
              <a:gd name="adj" fmla="val 12000"/>
            </a:avLst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 38"/>
          <p:cNvSpPr txBox="1"/>
          <p:nvPr/>
        </p:nvSpPr>
        <p:spPr>
          <a:xfrm>
            <a:off x="859536" y="3392424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19" name="Text 39"/>
          <p:cNvSpPr txBox="1"/>
          <p:nvPr/>
        </p:nvSpPr>
        <p:spPr>
          <a:xfrm>
            <a:off x="1581912" y="3374136"/>
            <a:ext cx="2898648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C2D48"/>
                </a:solidFill>
                <a:latin typeface="Noto Sans CJK SC"/>
                <a:ea typeface="Noto Sans CJK SC"/>
              </a:rPr>
              <a:t>流程能接续</a:t>
            </a:r>
          </a:p>
        </p:txBody>
      </p:sp>
      <p:sp>
        <p:nvSpPr>
          <p:cNvPr id="20" name="Text 40"/>
          <p:cNvSpPr txBox="1"/>
          <p:nvPr/>
        </p:nvSpPr>
        <p:spPr>
          <a:xfrm>
            <a:off x="4617720" y="3419856"/>
            <a:ext cx="40416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C87"/>
                </a:solidFill>
                <a:latin typeface="Noto Sans CJK SC"/>
                <a:ea typeface="Noto Sans CJK SC"/>
              </a:rPr>
              <a:t>减少等待和返工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" y="4059936"/>
            <a:ext cx="539496" cy="475488"/>
          </a:xfrm>
          <a:prstGeom prst="roundRect">
            <a:avLst>
              <a:gd name="adj" fmla="val 12000"/>
            </a:avLst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 41"/>
          <p:cNvSpPr txBox="1"/>
          <p:nvPr/>
        </p:nvSpPr>
        <p:spPr>
          <a:xfrm>
            <a:off x="859536" y="4087368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23" name="Text 42"/>
          <p:cNvSpPr txBox="1"/>
          <p:nvPr/>
        </p:nvSpPr>
        <p:spPr>
          <a:xfrm>
            <a:off x="1581912" y="4069080"/>
            <a:ext cx="2898648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C2D48"/>
                </a:solidFill>
                <a:latin typeface="Noto Sans CJK SC"/>
                <a:ea typeface="Noto Sans CJK SC"/>
              </a:rPr>
              <a:t>经验能复用</a:t>
            </a:r>
          </a:p>
        </p:txBody>
      </p:sp>
      <p:sp>
        <p:nvSpPr>
          <p:cNvPr id="24" name="Text 43"/>
          <p:cNvSpPr txBox="1"/>
          <p:nvPr/>
        </p:nvSpPr>
        <p:spPr>
          <a:xfrm>
            <a:off x="4617720" y="4114800"/>
            <a:ext cx="40416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C87"/>
                </a:solidFill>
                <a:latin typeface="Noto Sans CJK SC"/>
                <a:ea typeface="Noto Sans CJK SC"/>
              </a:rPr>
              <a:t>改善下一轮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" y="4754880"/>
            <a:ext cx="539496" cy="475488"/>
          </a:xfrm>
          <a:prstGeom prst="roundRect">
            <a:avLst>
              <a:gd name="adj" fmla="val 12000"/>
            </a:avLst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44"/>
          <p:cNvSpPr txBox="1"/>
          <p:nvPr/>
        </p:nvSpPr>
        <p:spPr>
          <a:xfrm>
            <a:off x="859536" y="4782312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27" name="Text 45"/>
          <p:cNvSpPr txBox="1"/>
          <p:nvPr/>
        </p:nvSpPr>
        <p:spPr>
          <a:xfrm>
            <a:off x="1581912" y="4764024"/>
            <a:ext cx="2898648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C2D48"/>
                </a:solidFill>
                <a:latin typeface="Noto Sans CJK SC"/>
                <a:ea typeface="Noto Sans CJK SC"/>
              </a:rPr>
              <a:t>投入可检验</a:t>
            </a:r>
          </a:p>
        </p:txBody>
      </p:sp>
      <p:sp>
        <p:nvSpPr>
          <p:cNvPr id="28" name="Text 46"/>
          <p:cNvSpPr txBox="1"/>
          <p:nvPr/>
        </p:nvSpPr>
        <p:spPr>
          <a:xfrm>
            <a:off x="4617720" y="4809744"/>
            <a:ext cx="40416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C87"/>
                </a:solidFill>
                <a:latin typeface="Noto Sans CJK SC"/>
                <a:ea typeface="Noto Sans CJK SC"/>
              </a:rPr>
              <a:t>决定扩大或调整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22792" y="2267712"/>
            <a:ext cx="548640" cy="0"/>
          </a:xfrm>
          <a:prstGeom prst="line">
            <a:avLst/>
          </a:prstGeom>
          <a:ln w="25400">
            <a:solidFill>
              <a:srgbClr val="286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71432" y="2267712"/>
            <a:ext cx="0" cy="2834640"/>
          </a:xfrm>
          <a:prstGeom prst="line">
            <a:avLst/>
          </a:prstGeom>
          <a:ln w="25400">
            <a:solidFill>
              <a:srgbClr val="286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622792" y="5102352"/>
            <a:ext cx="548640" cy="0"/>
          </a:xfrm>
          <a:prstGeom prst="line">
            <a:avLst/>
          </a:prstGeom>
          <a:ln w="25400">
            <a:solidFill>
              <a:srgbClr val="286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 47"/>
          <p:cNvSpPr txBox="1"/>
          <p:nvPr/>
        </p:nvSpPr>
        <p:spPr>
          <a:xfrm>
            <a:off x="9555480" y="2898648"/>
            <a:ext cx="1490472" cy="20116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0" b="1">
                <a:solidFill>
                  <a:srgbClr val="2869ED"/>
                </a:solidFill>
                <a:latin typeface="Noto Sans CJK SC"/>
                <a:ea typeface="Noto Sans CJK SC"/>
              </a:rPr>
              <a:t>快</a:t>
            </a:r>
          </a:p>
        </p:txBody>
      </p:sp>
      <p:sp>
        <p:nvSpPr>
          <p:cNvPr id="33" name="Text 48"/>
          <p:cNvSpPr txBox="1"/>
          <p:nvPr/>
        </p:nvSpPr>
        <p:spPr>
          <a:xfrm>
            <a:off x="9272016" y="4910328"/>
            <a:ext cx="2167128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69ED"/>
                </a:solidFill>
                <a:latin typeface="Noto Sans CJK SC"/>
                <a:ea typeface="Noto Sans CJK SC"/>
              </a:rPr>
              <a:t>有效业务周转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49"/>
          <p:cNvSpPr txBox="1"/>
          <p:nvPr/>
        </p:nvSpPr>
        <p:spPr>
          <a:xfrm>
            <a:off x="585216" y="320040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一芥智能研究院  /  企业数智化转型研究报告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768096"/>
            <a:ext cx="64008" cy="566928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50"/>
          <p:cNvSpPr txBox="1"/>
          <p:nvPr/>
        </p:nvSpPr>
        <p:spPr>
          <a:xfrm>
            <a:off x="813816" y="704088"/>
            <a:ext cx="1083564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D48"/>
                </a:solidFill>
                <a:latin typeface="Noto Sans CJK SC"/>
                <a:ea typeface="Noto Sans CJK SC"/>
              </a:rPr>
              <a:t>生成更快，业务仍可能在等</a:t>
            </a:r>
          </a:p>
        </p:txBody>
      </p:sp>
      <p:sp>
        <p:nvSpPr>
          <p:cNvPr id="5" name="Text 51"/>
          <p:cNvSpPr txBox="1"/>
          <p:nvPr/>
        </p:nvSpPr>
        <p:spPr>
          <a:xfrm>
            <a:off x="822960" y="1399032"/>
            <a:ext cx="107259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完整周期还包括核验、交接、返工和下一环节承接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82512"/>
            <a:ext cx="11009376" cy="0"/>
          </a:xfrm>
          <a:prstGeom prst="line">
            <a:avLst/>
          </a:prstGeom>
          <a:ln w="889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52"/>
          <p:cNvSpPr txBox="1"/>
          <p:nvPr/>
        </p:nvSpPr>
        <p:spPr>
          <a:xfrm>
            <a:off x="594360" y="6473952"/>
            <a:ext cx="105613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87"/>
                </a:solidFill>
                <a:latin typeface="Noto Sans CJK SC"/>
                <a:ea typeface="Noto Sans CJK SC"/>
                <a:hlinkClick r:id="rId2"/>
              </a:rPr>
              <a:t>来源：I01早期试点｜服务商复盘自述；上册3.2、4.4</a:t>
            </a:r>
          </a:p>
        </p:txBody>
      </p:sp>
      <p:sp>
        <p:nvSpPr>
          <p:cNvPr id="8" name="Text 53"/>
          <p:cNvSpPr txBox="1"/>
          <p:nvPr/>
        </p:nvSpPr>
        <p:spPr>
          <a:xfrm>
            <a:off x="11183112" y="6446520"/>
            <a:ext cx="42062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" y="2185416"/>
            <a:ext cx="1746504" cy="941832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 54"/>
          <p:cNvSpPr txBox="1"/>
          <p:nvPr/>
        </p:nvSpPr>
        <p:spPr>
          <a:xfrm>
            <a:off x="813816" y="2377440"/>
            <a:ext cx="160020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869ED"/>
                </a:solidFill>
                <a:latin typeface="Noto Sans CJK SC"/>
                <a:ea typeface="Noto Sans CJK SC"/>
              </a:rPr>
              <a:t>准备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15768" y="2185416"/>
            <a:ext cx="2889504" cy="941832"/>
          </a:xfrm>
          <a:prstGeom prst="roundRect">
            <a:avLst>
              <a:gd name="adj" fmla="val 12000"/>
            </a:avLst>
          </a:prstGeom>
          <a:solidFill>
            <a:srgbClr val="FFF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55"/>
          <p:cNvSpPr txBox="1"/>
          <p:nvPr/>
        </p:nvSpPr>
        <p:spPr>
          <a:xfrm>
            <a:off x="2788920" y="2377440"/>
            <a:ext cx="274320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C2D48"/>
                </a:solidFill>
                <a:latin typeface="Noto Sans CJK SC"/>
                <a:ea typeface="Noto Sans CJK SC"/>
              </a:rPr>
              <a:t>等待审核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33872" y="2185416"/>
            <a:ext cx="2843784" cy="941832"/>
          </a:xfrm>
          <a:prstGeom prst="roundRect">
            <a:avLst>
              <a:gd name="adj" fmla="val 12000"/>
            </a:avLst>
          </a:prstGeom>
          <a:solidFill>
            <a:srgbClr val="FFF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 56"/>
          <p:cNvSpPr txBox="1"/>
          <p:nvPr/>
        </p:nvSpPr>
        <p:spPr>
          <a:xfrm>
            <a:off x="5907024" y="2377440"/>
            <a:ext cx="2697479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C2D48"/>
                </a:solidFill>
                <a:latin typeface="Noto Sans CJK SC"/>
                <a:ea typeface="Noto Sans CJK SC"/>
              </a:rPr>
              <a:t>核验与返工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2185416"/>
            <a:ext cx="2514600" cy="9418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 57"/>
          <p:cNvSpPr txBox="1"/>
          <p:nvPr/>
        </p:nvSpPr>
        <p:spPr>
          <a:xfrm>
            <a:off x="8979408" y="2377440"/>
            <a:ext cx="2368296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C2D48"/>
                </a:solidFill>
                <a:latin typeface="Noto Sans CJK SC"/>
                <a:ea typeface="Noto Sans CJK SC"/>
              </a:rPr>
              <a:t>下一环节采用</a:t>
            </a:r>
          </a:p>
        </p:txBody>
      </p:sp>
      <p:sp>
        <p:nvSpPr>
          <p:cNvPr id="17" name="Text 58"/>
          <p:cNvSpPr txBox="1"/>
          <p:nvPr/>
        </p:nvSpPr>
        <p:spPr>
          <a:xfrm>
            <a:off x="822960" y="3538728"/>
            <a:ext cx="2560320" cy="10789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2869ED"/>
                </a:solidFill>
                <a:latin typeface="Noto Sans CJK SC"/>
                <a:ea typeface="Noto Sans CJK SC"/>
              </a:rPr>
              <a:t>约80%</a:t>
            </a:r>
          </a:p>
        </p:txBody>
      </p:sp>
      <p:sp>
        <p:nvSpPr>
          <p:cNvPr id="18" name="Text 59"/>
          <p:cNvSpPr txBox="1"/>
          <p:nvPr/>
        </p:nvSpPr>
        <p:spPr>
          <a:xfrm>
            <a:off x="3794760" y="3666744"/>
            <a:ext cx="7150608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C2D48"/>
                </a:solidFill>
                <a:latin typeface="Noto Sans CJK SC"/>
                <a:ea typeface="Noto Sans CJK SC"/>
              </a:rPr>
              <a:t>早期图片仍需PS补救</a:t>
            </a:r>
          </a:p>
        </p:txBody>
      </p:sp>
      <p:sp>
        <p:nvSpPr>
          <p:cNvPr id="19" name="Text 60"/>
          <p:cNvSpPr txBox="1"/>
          <p:nvPr/>
        </p:nvSpPr>
        <p:spPr>
          <a:xfrm>
            <a:off x="3803904" y="4251960"/>
            <a:ext cx="7114032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86C87"/>
                </a:solidFill>
                <a:latin typeface="Noto Sans CJK SC"/>
                <a:ea typeface="Noto Sans CJK SC"/>
              </a:rPr>
              <a:t>泳装商拍：生成之后，仍有合格交付的工作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5669280"/>
            <a:ext cx="10972800" cy="512064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 61"/>
          <p:cNvSpPr txBox="1"/>
          <p:nvPr/>
        </p:nvSpPr>
        <p:spPr>
          <a:xfrm>
            <a:off x="813816" y="5715000"/>
            <a:ext cx="1057046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69ED"/>
                </a:solidFill>
                <a:latin typeface="Noto Sans CJK SC"/>
                <a:ea typeface="Noto Sans CJK SC"/>
              </a:rPr>
              <a:t>沿客户可用结果，把等待和返工一起缩短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62"/>
          <p:cNvSpPr txBox="1"/>
          <p:nvPr/>
        </p:nvSpPr>
        <p:spPr>
          <a:xfrm>
            <a:off x="585216" y="320040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一芥智能研究院  /  企业数智化转型研究报告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768096"/>
            <a:ext cx="64008" cy="566928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63"/>
          <p:cNvSpPr txBox="1"/>
          <p:nvPr/>
        </p:nvSpPr>
        <p:spPr>
          <a:xfrm>
            <a:off x="813816" y="704088"/>
            <a:ext cx="1083564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D48"/>
                </a:solidFill>
                <a:latin typeface="Noto Sans CJK SC"/>
                <a:ea typeface="Noto Sans CJK SC"/>
              </a:rPr>
              <a:t>MTL交出线索，LTC把业务做完</a:t>
            </a:r>
          </a:p>
        </p:txBody>
      </p:sp>
      <p:sp>
        <p:nvSpPr>
          <p:cNvPr id="5" name="Text 64"/>
          <p:cNvSpPr txBox="1"/>
          <p:nvPr/>
        </p:nvSpPr>
        <p:spPr>
          <a:xfrm>
            <a:off x="822960" y="1399032"/>
            <a:ext cx="107259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沿同一客户对象，让市场、销售、方案、交付和财务接续工作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82512"/>
            <a:ext cx="11009376" cy="0"/>
          </a:xfrm>
          <a:prstGeom prst="line">
            <a:avLst/>
          </a:prstGeom>
          <a:ln w="889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65"/>
          <p:cNvSpPr txBox="1"/>
          <p:nvPr/>
        </p:nvSpPr>
        <p:spPr>
          <a:xfrm>
            <a:off x="594360" y="6473952"/>
            <a:ext cx="105613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87"/>
                </a:solidFill>
                <a:latin typeface="Noto Sans CJK SC"/>
                <a:ea typeface="Noto Sans CJK SC"/>
                <a:hlinkClick r:id="rId2"/>
              </a:rPr>
              <a:t>依据：上册2.1—2.3、3.3｜示意流程按企业业务调整</a:t>
            </a:r>
          </a:p>
        </p:txBody>
      </p:sp>
      <p:sp>
        <p:nvSpPr>
          <p:cNvPr id="8" name="Text 66"/>
          <p:cNvSpPr txBox="1"/>
          <p:nvPr/>
        </p:nvSpPr>
        <p:spPr>
          <a:xfrm>
            <a:off x="11183112" y="6446520"/>
            <a:ext cx="42062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9" name="Text 67"/>
          <p:cNvSpPr txBox="1"/>
          <p:nvPr/>
        </p:nvSpPr>
        <p:spPr>
          <a:xfrm>
            <a:off x="740664" y="1975104"/>
            <a:ext cx="11887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869ED"/>
                </a:solidFill>
                <a:latin typeface="Noto Sans CJK SC"/>
                <a:ea typeface="Noto Sans CJK SC"/>
              </a:rPr>
              <a:t>MTL</a:t>
            </a:r>
          </a:p>
        </p:txBody>
      </p:sp>
      <p:sp>
        <p:nvSpPr>
          <p:cNvPr id="10" name="Text 68"/>
          <p:cNvSpPr txBox="1"/>
          <p:nvPr/>
        </p:nvSpPr>
        <p:spPr>
          <a:xfrm>
            <a:off x="1856231" y="1984248"/>
            <a:ext cx="89611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86C87"/>
                </a:solidFill>
                <a:latin typeface="Noto Sans CJK SC"/>
                <a:ea typeface="Noto Sans CJK SC"/>
              </a:rPr>
              <a:t>市场与客户开发：形成销售接得住的线索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15184"/>
            <a:ext cx="1914753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69"/>
          <p:cNvSpPr txBox="1"/>
          <p:nvPr/>
        </p:nvSpPr>
        <p:spPr>
          <a:xfrm>
            <a:off x="749808" y="2724912"/>
            <a:ext cx="1786737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C2D48"/>
                </a:solidFill>
                <a:latin typeface="Noto Sans CJK SC"/>
                <a:ea typeface="Noto Sans CJK SC"/>
              </a:rPr>
              <a:t>市场与客群</a:t>
            </a:r>
          </a:p>
        </p:txBody>
      </p:sp>
      <p:sp>
        <p:nvSpPr>
          <p:cNvPr id="13" name="Chevron 12"/>
          <p:cNvSpPr/>
          <p:nvPr/>
        </p:nvSpPr>
        <p:spPr>
          <a:xfrm>
            <a:off x="2669133" y="2944368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11449" y="2615184"/>
            <a:ext cx="1914753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 70"/>
          <p:cNvSpPr txBox="1"/>
          <p:nvPr/>
        </p:nvSpPr>
        <p:spPr>
          <a:xfrm>
            <a:off x="2975457" y="2724912"/>
            <a:ext cx="1786737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C2D48"/>
                </a:solidFill>
                <a:latin typeface="Noto Sans CJK SC"/>
                <a:ea typeface="Noto Sans CJK SC"/>
              </a:rPr>
              <a:t>表达与回应</a:t>
            </a:r>
          </a:p>
        </p:txBody>
      </p:sp>
      <p:sp>
        <p:nvSpPr>
          <p:cNvPr id="16" name="Chevron 15"/>
          <p:cNvSpPr/>
          <p:nvPr/>
        </p:nvSpPr>
        <p:spPr>
          <a:xfrm>
            <a:off x="4894783" y="2944368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37099" y="2615184"/>
            <a:ext cx="1914753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 71"/>
          <p:cNvSpPr txBox="1"/>
          <p:nvPr/>
        </p:nvSpPr>
        <p:spPr>
          <a:xfrm>
            <a:off x="5201107" y="2724912"/>
            <a:ext cx="1786737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C2D48"/>
                </a:solidFill>
                <a:latin typeface="Noto Sans CJK SC"/>
                <a:ea typeface="Noto Sans CJK SC"/>
              </a:rPr>
              <a:t>询盘与核实</a:t>
            </a:r>
          </a:p>
        </p:txBody>
      </p:sp>
      <p:sp>
        <p:nvSpPr>
          <p:cNvPr id="19" name="Chevron 18"/>
          <p:cNvSpPr/>
          <p:nvPr/>
        </p:nvSpPr>
        <p:spPr>
          <a:xfrm>
            <a:off x="7120432" y="2944368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62748" y="2615184"/>
            <a:ext cx="1914753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 72"/>
          <p:cNvSpPr txBox="1"/>
          <p:nvPr/>
        </p:nvSpPr>
        <p:spPr>
          <a:xfrm>
            <a:off x="7426756" y="2724912"/>
            <a:ext cx="1786737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C2D48"/>
                </a:solidFill>
                <a:latin typeface="Noto Sans CJK SC"/>
                <a:ea typeface="Noto Sans CJK SC"/>
              </a:rPr>
              <a:t>有效线索</a:t>
            </a:r>
          </a:p>
        </p:txBody>
      </p:sp>
      <p:sp>
        <p:nvSpPr>
          <p:cNvPr id="22" name="Chevron 21"/>
          <p:cNvSpPr/>
          <p:nvPr/>
        </p:nvSpPr>
        <p:spPr>
          <a:xfrm>
            <a:off x="9346082" y="2944368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88398" y="2615184"/>
            <a:ext cx="1914753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 73"/>
          <p:cNvSpPr txBox="1"/>
          <p:nvPr/>
        </p:nvSpPr>
        <p:spPr>
          <a:xfrm>
            <a:off x="9652406" y="2724912"/>
            <a:ext cx="1786737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C2D48"/>
                </a:solidFill>
                <a:latin typeface="Noto Sans CJK SC"/>
                <a:ea typeface="Noto Sans CJK SC"/>
              </a:rPr>
              <a:t>销售接手</a:t>
            </a:r>
          </a:p>
        </p:txBody>
      </p:sp>
      <p:sp>
        <p:nvSpPr>
          <p:cNvPr id="25" name="Text 74"/>
          <p:cNvSpPr txBox="1"/>
          <p:nvPr/>
        </p:nvSpPr>
        <p:spPr>
          <a:xfrm>
            <a:off x="740664" y="3749039"/>
            <a:ext cx="11887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38D91"/>
                </a:solidFill>
                <a:latin typeface="Noto Sans CJK SC"/>
                <a:ea typeface="Noto Sans CJK SC"/>
              </a:rPr>
              <a:t>LTC</a:t>
            </a:r>
          </a:p>
        </p:txBody>
      </p:sp>
      <p:sp>
        <p:nvSpPr>
          <p:cNvPr id="26" name="Text 75"/>
          <p:cNvSpPr txBox="1"/>
          <p:nvPr/>
        </p:nvSpPr>
        <p:spPr>
          <a:xfrm>
            <a:off x="1856231" y="3758184"/>
            <a:ext cx="89611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86C87"/>
                </a:solidFill>
                <a:latin typeface="Noto Sans CJK SC"/>
                <a:ea typeface="Noto Sans CJK SC"/>
              </a:rPr>
              <a:t>销售、方案、交付与财务：履约、验收、回款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407408"/>
            <a:ext cx="1914753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 76"/>
          <p:cNvSpPr txBox="1"/>
          <p:nvPr/>
        </p:nvSpPr>
        <p:spPr>
          <a:xfrm>
            <a:off x="749808" y="4517136"/>
            <a:ext cx="1786737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C2D48"/>
                </a:solidFill>
                <a:latin typeface="Noto Sans CJK SC"/>
                <a:ea typeface="Noto Sans CJK SC"/>
              </a:rPr>
              <a:t>机会与需求</a:t>
            </a:r>
          </a:p>
        </p:txBody>
      </p:sp>
      <p:sp>
        <p:nvSpPr>
          <p:cNvPr id="29" name="Chevron 28"/>
          <p:cNvSpPr/>
          <p:nvPr/>
        </p:nvSpPr>
        <p:spPr>
          <a:xfrm>
            <a:off x="2669133" y="4736592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911449" y="4407408"/>
            <a:ext cx="1914753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 77"/>
          <p:cNvSpPr txBox="1"/>
          <p:nvPr/>
        </p:nvSpPr>
        <p:spPr>
          <a:xfrm>
            <a:off x="2975457" y="4517136"/>
            <a:ext cx="1786737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C2D48"/>
                </a:solidFill>
                <a:latin typeface="Noto Sans CJK SC"/>
                <a:ea typeface="Noto Sans CJK SC"/>
              </a:rPr>
              <a:t>方案与承诺</a:t>
            </a:r>
          </a:p>
        </p:txBody>
      </p:sp>
      <p:sp>
        <p:nvSpPr>
          <p:cNvPr id="32" name="Chevron 31"/>
          <p:cNvSpPr/>
          <p:nvPr/>
        </p:nvSpPr>
        <p:spPr>
          <a:xfrm>
            <a:off x="4894783" y="4736592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137099" y="4407408"/>
            <a:ext cx="1914753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 78"/>
          <p:cNvSpPr txBox="1"/>
          <p:nvPr/>
        </p:nvSpPr>
        <p:spPr>
          <a:xfrm>
            <a:off x="5201107" y="4517136"/>
            <a:ext cx="1786737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C2D48"/>
                </a:solidFill>
                <a:latin typeface="Noto Sans CJK SC"/>
                <a:ea typeface="Noto Sans CJK SC"/>
              </a:rPr>
              <a:t>合同与准备</a:t>
            </a:r>
          </a:p>
        </p:txBody>
      </p:sp>
      <p:sp>
        <p:nvSpPr>
          <p:cNvPr id="35" name="Chevron 34"/>
          <p:cNvSpPr/>
          <p:nvPr/>
        </p:nvSpPr>
        <p:spPr>
          <a:xfrm>
            <a:off x="7120432" y="4736592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62748" y="4407408"/>
            <a:ext cx="1914753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 79"/>
          <p:cNvSpPr txBox="1"/>
          <p:nvPr/>
        </p:nvSpPr>
        <p:spPr>
          <a:xfrm>
            <a:off x="7426756" y="4517136"/>
            <a:ext cx="1786737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C2D48"/>
                </a:solidFill>
                <a:latin typeface="Noto Sans CJK SC"/>
                <a:ea typeface="Noto Sans CJK SC"/>
              </a:rPr>
              <a:t>履约与验收</a:t>
            </a:r>
          </a:p>
        </p:txBody>
      </p:sp>
      <p:sp>
        <p:nvSpPr>
          <p:cNvPr id="38" name="Chevron 37"/>
          <p:cNvSpPr/>
          <p:nvPr/>
        </p:nvSpPr>
        <p:spPr>
          <a:xfrm>
            <a:off x="9346082" y="4736592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588398" y="4407408"/>
            <a:ext cx="1914753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 80"/>
          <p:cNvSpPr txBox="1"/>
          <p:nvPr/>
        </p:nvSpPr>
        <p:spPr>
          <a:xfrm>
            <a:off x="9652406" y="4517136"/>
            <a:ext cx="1786737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C2D48"/>
                </a:solidFill>
                <a:latin typeface="Noto Sans CJK SC"/>
                <a:ea typeface="Noto Sans CJK SC"/>
              </a:rPr>
              <a:t>按约回款</a:t>
            </a:r>
          </a:p>
        </p:txBody>
      </p:sp>
      <p:sp>
        <p:nvSpPr>
          <p:cNvPr id="41" name="Text 81"/>
          <p:cNvSpPr txBox="1"/>
          <p:nvPr/>
        </p:nvSpPr>
        <p:spPr>
          <a:xfrm>
            <a:off x="6583680" y="5596128"/>
            <a:ext cx="464515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69ED"/>
                </a:solidFill>
                <a:latin typeface="Noto Sans CJK SC"/>
                <a:ea typeface="Noto Sans CJK SC"/>
              </a:rPr>
              <a:t>沿同一客户对象接续，反馈回到前端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82"/>
          <p:cNvSpPr txBox="1"/>
          <p:nvPr/>
        </p:nvSpPr>
        <p:spPr>
          <a:xfrm>
            <a:off x="585216" y="320040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一芥智能研究院  /  企业数智化转型研究报告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768096"/>
            <a:ext cx="64008" cy="566928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83"/>
          <p:cNvSpPr txBox="1"/>
          <p:nvPr/>
        </p:nvSpPr>
        <p:spPr>
          <a:xfrm>
            <a:off x="813816" y="704088"/>
            <a:ext cx="1083564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D48"/>
                </a:solidFill>
                <a:latin typeface="Noto Sans CJK SC"/>
                <a:ea typeface="Noto Sans CJK SC"/>
              </a:rPr>
              <a:t>把“快”拆成四个可以管理的距离</a:t>
            </a:r>
          </a:p>
        </p:txBody>
      </p:sp>
      <p:sp>
        <p:nvSpPr>
          <p:cNvPr id="5" name="Text 84"/>
          <p:cNvSpPr txBox="1"/>
          <p:nvPr/>
        </p:nvSpPr>
        <p:spPr>
          <a:xfrm>
            <a:off x="822960" y="1399032"/>
            <a:ext cx="107259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决策、试错、复制和切换，共同缩短反馈环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82512"/>
            <a:ext cx="11009376" cy="0"/>
          </a:xfrm>
          <a:prstGeom prst="line">
            <a:avLst/>
          </a:prstGeom>
          <a:ln w="889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85"/>
          <p:cNvSpPr txBox="1"/>
          <p:nvPr/>
        </p:nvSpPr>
        <p:spPr>
          <a:xfrm>
            <a:off x="594360" y="6473952"/>
            <a:ext cx="105613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87"/>
                </a:solidFill>
                <a:latin typeface="Noto Sans CJK SC"/>
                <a:ea typeface="Noto Sans CJK SC"/>
                <a:hlinkClick r:id="rId2"/>
              </a:rPr>
              <a:t>依据：上册3.5、4.3、5.3—5.5｜四快为本演示整理</a:t>
            </a:r>
          </a:p>
        </p:txBody>
      </p:sp>
      <p:sp>
        <p:nvSpPr>
          <p:cNvPr id="8" name="Text 86"/>
          <p:cNvSpPr txBox="1"/>
          <p:nvPr/>
        </p:nvSpPr>
        <p:spPr>
          <a:xfrm>
            <a:off x="11183112" y="6446520"/>
            <a:ext cx="42062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2212848"/>
            <a:ext cx="2606040" cy="3255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 87"/>
          <p:cNvSpPr txBox="1"/>
          <p:nvPr/>
        </p:nvSpPr>
        <p:spPr>
          <a:xfrm>
            <a:off x="841248" y="2404872"/>
            <a:ext cx="214884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69ED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1" name="Text 88"/>
          <p:cNvSpPr txBox="1"/>
          <p:nvPr/>
        </p:nvSpPr>
        <p:spPr>
          <a:xfrm>
            <a:off x="841248" y="2953512"/>
            <a:ext cx="2148840" cy="5394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869ED"/>
                </a:solidFill>
                <a:latin typeface="Noto Sans CJK SC"/>
                <a:ea typeface="Noto Sans CJK SC"/>
              </a:rPr>
              <a:t>决策快</a:t>
            </a:r>
          </a:p>
        </p:txBody>
      </p:sp>
      <p:sp>
        <p:nvSpPr>
          <p:cNvPr id="12" name="Text 89"/>
          <p:cNvSpPr txBox="1"/>
          <p:nvPr/>
        </p:nvSpPr>
        <p:spPr>
          <a:xfrm>
            <a:off x="813816" y="3813048"/>
            <a:ext cx="2203704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1C2D48"/>
                </a:solidFill>
                <a:latin typeface="Noto Sans CJK SC"/>
                <a:ea typeface="Noto Sans CJK SC"/>
              </a:rPr>
              <a:t>信号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1C2D48"/>
                </a:solidFill>
                <a:latin typeface="Noto Sans CJK SC"/>
                <a:ea typeface="Noto Sans CJK SC"/>
              </a:rPr>
              <a:t>→ 授权决定</a:t>
            </a:r>
          </a:p>
        </p:txBody>
      </p:sp>
      <p:sp>
        <p:nvSpPr>
          <p:cNvPr id="13" name="Text 90"/>
          <p:cNvSpPr txBox="1"/>
          <p:nvPr/>
        </p:nvSpPr>
        <p:spPr>
          <a:xfrm>
            <a:off x="804672" y="4681728"/>
            <a:ext cx="2221992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86C87"/>
                </a:solidFill>
                <a:latin typeface="Noto Sans CJK SC"/>
                <a:ea typeface="Noto Sans CJK SC"/>
              </a:rPr>
              <a:t>依据、选项、负责人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8144" y="2212848"/>
            <a:ext cx="2606040" cy="3255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 91"/>
          <p:cNvSpPr txBox="1"/>
          <p:nvPr/>
        </p:nvSpPr>
        <p:spPr>
          <a:xfrm>
            <a:off x="3666744" y="2404872"/>
            <a:ext cx="214884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69ED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6" name="Text 92"/>
          <p:cNvSpPr txBox="1"/>
          <p:nvPr/>
        </p:nvSpPr>
        <p:spPr>
          <a:xfrm>
            <a:off x="3666744" y="2953512"/>
            <a:ext cx="2148840" cy="5394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869ED"/>
                </a:solidFill>
                <a:latin typeface="Noto Sans CJK SC"/>
                <a:ea typeface="Noto Sans CJK SC"/>
              </a:rPr>
              <a:t>试错快</a:t>
            </a:r>
          </a:p>
        </p:txBody>
      </p:sp>
      <p:sp>
        <p:nvSpPr>
          <p:cNvPr id="17" name="Text 93"/>
          <p:cNvSpPr txBox="1"/>
          <p:nvPr/>
        </p:nvSpPr>
        <p:spPr>
          <a:xfrm>
            <a:off x="3639312" y="3813048"/>
            <a:ext cx="2203704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1C2D48"/>
                </a:solidFill>
                <a:latin typeface="Noto Sans CJK SC"/>
                <a:ea typeface="Noto Sans CJK SC"/>
              </a:rPr>
              <a:t>决定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1C2D48"/>
                </a:solidFill>
                <a:latin typeface="Noto Sans CJK SC"/>
                <a:ea typeface="Noto Sans CJK SC"/>
              </a:rPr>
              <a:t>→ 有效反馈</a:t>
            </a:r>
          </a:p>
        </p:txBody>
      </p:sp>
      <p:sp>
        <p:nvSpPr>
          <p:cNvPr id="18" name="Text 94"/>
          <p:cNvSpPr txBox="1"/>
          <p:nvPr/>
        </p:nvSpPr>
        <p:spPr>
          <a:xfrm>
            <a:off x="3630168" y="4681728"/>
            <a:ext cx="2221992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86C87"/>
                </a:solidFill>
                <a:latin typeface="Noto Sans CJK SC"/>
                <a:ea typeface="Noto Sans CJK SC"/>
              </a:rPr>
              <a:t>小范围、真采用、可验收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212848"/>
            <a:ext cx="2606040" cy="3255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 95"/>
          <p:cNvSpPr txBox="1"/>
          <p:nvPr/>
        </p:nvSpPr>
        <p:spPr>
          <a:xfrm>
            <a:off x="6492240" y="2404872"/>
            <a:ext cx="214884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69ED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1" name="Text 96"/>
          <p:cNvSpPr txBox="1"/>
          <p:nvPr/>
        </p:nvSpPr>
        <p:spPr>
          <a:xfrm>
            <a:off x="6492240" y="2953512"/>
            <a:ext cx="2148840" cy="5394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869ED"/>
                </a:solidFill>
                <a:latin typeface="Noto Sans CJK SC"/>
                <a:ea typeface="Noto Sans CJK SC"/>
              </a:rPr>
              <a:t>复制快</a:t>
            </a:r>
          </a:p>
        </p:txBody>
      </p:sp>
      <p:sp>
        <p:nvSpPr>
          <p:cNvPr id="22" name="Text 97"/>
          <p:cNvSpPr txBox="1"/>
          <p:nvPr/>
        </p:nvSpPr>
        <p:spPr>
          <a:xfrm>
            <a:off x="6464807" y="3813048"/>
            <a:ext cx="2203704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1C2D48"/>
                </a:solidFill>
                <a:latin typeface="Noto Sans CJK SC"/>
                <a:ea typeface="Noto Sans CJK SC"/>
              </a:rPr>
              <a:t>一处验证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1C2D48"/>
                </a:solidFill>
                <a:latin typeface="Noto Sans CJK SC"/>
                <a:ea typeface="Noto Sans CJK SC"/>
              </a:rPr>
              <a:t>→ 新处采用</a:t>
            </a:r>
          </a:p>
        </p:txBody>
      </p:sp>
      <p:sp>
        <p:nvSpPr>
          <p:cNvPr id="23" name="Text 98"/>
          <p:cNvSpPr txBox="1"/>
          <p:nvPr/>
        </p:nvSpPr>
        <p:spPr>
          <a:xfrm>
            <a:off x="6455664" y="4681728"/>
            <a:ext cx="2221992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86C87"/>
                </a:solidFill>
                <a:latin typeface="Noto Sans CJK SC"/>
                <a:ea typeface="Noto Sans CJK SC"/>
              </a:rPr>
              <a:t>方法、条件、承接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89136" y="2212848"/>
            <a:ext cx="2606040" cy="3255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 99"/>
          <p:cNvSpPr txBox="1"/>
          <p:nvPr/>
        </p:nvSpPr>
        <p:spPr>
          <a:xfrm>
            <a:off x="9317736" y="2404872"/>
            <a:ext cx="214884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69ED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26" name="Text 100"/>
          <p:cNvSpPr txBox="1"/>
          <p:nvPr/>
        </p:nvSpPr>
        <p:spPr>
          <a:xfrm>
            <a:off x="9317736" y="2953512"/>
            <a:ext cx="2148840" cy="5394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869ED"/>
                </a:solidFill>
                <a:latin typeface="Noto Sans CJK SC"/>
                <a:ea typeface="Noto Sans CJK SC"/>
              </a:rPr>
              <a:t>切换快</a:t>
            </a:r>
          </a:p>
        </p:txBody>
      </p:sp>
      <p:sp>
        <p:nvSpPr>
          <p:cNvPr id="27" name="Text 101"/>
          <p:cNvSpPr txBox="1"/>
          <p:nvPr/>
        </p:nvSpPr>
        <p:spPr>
          <a:xfrm>
            <a:off x="9290304" y="3813048"/>
            <a:ext cx="2203704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1C2D48"/>
                </a:solidFill>
                <a:latin typeface="Noto Sans CJK SC"/>
                <a:ea typeface="Noto Sans CJK SC"/>
              </a:rPr>
              <a:t>条件变化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1C2D48"/>
                </a:solidFill>
                <a:latin typeface="Noto Sans CJK SC"/>
                <a:ea typeface="Noto Sans CJK SC"/>
              </a:rPr>
              <a:t>→ 调整生效</a:t>
            </a:r>
          </a:p>
        </p:txBody>
      </p:sp>
      <p:sp>
        <p:nvSpPr>
          <p:cNvPr id="28" name="Text 102"/>
          <p:cNvSpPr txBox="1"/>
          <p:nvPr/>
        </p:nvSpPr>
        <p:spPr>
          <a:xfrm>
            <a:off x="9281160" y="4681728"/>
            <a:ext cx="2221992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86C87"/>
                </a:solidFill>
                <a:latin typeface="Noto Sans CJK SC"/>
                <a:ea typeface="Noto Sans CJK SC"/>
              </a:rPr>
              <a:t>重评估、改组合、保连续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03"/>
          <p:cNvSpPr txBox="1"/>
          <p:nvPr/>
        </p:nvSpPr>
        <p:spPr>
          <a:xfrm>
            <a:off x="585216" y="320040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一芥智能研究院  /  企业数智化转型研究报告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768096"/>
            <a:ext cx="64008" cy="566928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104"/>
          <p:cNvSpPr txBox="1"/>
          <p:nvPr/>
        </p:nvSpPr>
        <p:spPr>
          <a:xfrm>
            <a:off x="813816" y="704088"/>
            <a:ext cx="1083564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D48"/>
                </a:solidFill>
                <a:latin typeface="Noto Sans CJK SC"/>
                <a:ea typeface="Noto Sans CJK SC"/>
              </a:rPr>
              <a:t>决策快：让依据尽早进入判断</a:t>
            </a:r>
          </a:p>
        </p:txBody>
      </p:sp>
      <p:sp>
        <p:nvSpPr>
          <p:cNvPr id="5" name="Text 105"/>
          <p:cNvSpPr txBox="1"/>
          <p:nvPr/>
        </p:nvSpPr>
        <p:spPr>
          <a:xfrm>
            <a:off x="822960" y="1399032"/>
            <a:ext cx="107259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信息准备、规则核对和授权决定，分别交给合适的执行者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82512"/>
            <a:ext cx="11009376" cy="0"/>
          </a:xfrm>
          <a:prstGeom prst="line">
            <a:avLst/>
          </a:prstGeom>
          <a:ln w="889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106"/>
          <p:cNvSpPr txBox="1"/>
          <p:nvPr/>
        </p:nvSpPr>
        <p:spPr>
          <a:xfrm>
            <a:off x="594360" y="6473952"/>
            <a:ext cx="105613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87"/>
                </a:solidFill>
                <a:latin typeface="Noto Sans CJK SC"/>
                <a:ea typeface="Noto Sans CJK SC"/>
                <a:hlinkClick r:id="rId2"/>
              </a:rPr>
              <a:t>参照：C11澳洲乳企｜局部使用、实施者自述；上册3.5、5.3</a:t>
            </a:r>
          </a:p>
        </p:txBody>
      </p:sp>
      <p:sp>
        <p:nvSpPr>
          <p:cNvPr id="8" name="Text 107"/>
          <p:cNvSpPr txBox="1"/>
          <p:nvPr/>
        </p:nvSpPr>
        <p:spPr>
          <a:xfrm>
            <a:off x="11183112" y="6446520"/>
            <a:ext cx="42062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139696"/>
            <a:ext cx="3099816" cy="1517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 108"/>
          <p:cNvSpPr txBox="1"/>
          <p:nvPr/>
        </p:nvSpPr>
        <p:spPr>
          <a:xfrm>
            <a:off x="950976" y="2368296"/>
            <a:ext cx="277063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869ED"/>
                </a:solidFill>
                <a:latin typeface="Noto Sans CJK SC"/>
                <a:ea typeface="Noto Sans CJK SC"/>
              </a:rPr>
              <a:t>AI</a:t>
            </a:r>
          </a:p>
        </p:txBody>
      </p:sp>
      <p:sp>
        <p:nvSpPr>
          <p:cNvPr id="11" name="Text 109"/>
          <p:cNvSpPr txBox="1"/>
          <p:nvPr/>
        </p:nvSpPr>
        <p:spPr>
          <a:xfrm>
            <a:off x="905256" y="2953512"/>
            <a:ext cx="2862072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D48"/>
                </a:solidFill>
                <a:latin typeface="Noto Sans CJK SC"/>
                <a:ea typeface="Noto Sans CJK SC"/>
              </a:rPr>
              <a:t>整理事实与选项</a:t>
            </a:r>
          </a:p>
        </p:txBody>
      </p:sp>
      <p:sp>
        <p:nvSpPr>
          <p:cNvPr id="12" name="Chevron 11"/>
          <p:cNvSpPr/>
          <p:nvPr/>
        </p:nvSpPr>
        <p:spPr>
          <a:xfrm>
            <a:off x="4078224" y="2761488"/>
            <a:ext cx="256032" cy="219456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7720" y="2139696"/>
            <a:ext cx="3099816" cy="1517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 110"/>
          <p:cNvSpPr txBox="1"/>
          <p:nvPr/>
        </p:nvSpPr>
        <p:spPr>
          <a:xfrm>
            <a:off x="4782312" y="2368296"/>
            <a:ext cx="277063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869ED"/>
                </a:solidFill>
                <a:latin typeface="Noto Sans CJK SC"/>
                <a:ea typeface="Noto Sans CJK SC"/>
              </a:rPr>
              <a:t>程序</a:t>
            </a:r>
          </a:p>
        </p:txBody>
      </p:sp>
      <p:sp>
        <p:nvSpPr>
          <p:cNvPr id="15" name="Text 111"/>
          <p:cNvSpPr txBox="1"/>
          <p:nvPr/>
        </p:nvSpPr>
        <p:spPr>
          <a:xfrm>
            <a:off x="4736592" y="2953512"/>
            <a:ext cx="2862072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D48"/>
                </a:solidFill>
                <a:latin typeface="Noto Sans CJK SC"/>
                <a:ea typeface="Noto Sans CJK SC"/>
              </a:rPr>
              <a:t>核对规则与状态</a:t>
            </a:r>
          </a:p>
        </p:txBody>
      </p:sp>
      <p:sp>
        <p:nvSpPr>
          <p:cNvPr id="16" name="Chevron 15"/>
          <p:cNvSpPr/>
          <p:nvPr/>
        </p:nvSpPr>
        <p:spPr>
          <a:xfrm>
            <a:off x="7909560" y="2761488"/>
            <a:ext cx="256032" cy="219456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49056" y="2139696"/>
            <a:ext cx="3099816" cy="1517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 112"/>
          <p:cNvSpPr txBox="1"/>
          <p:nvPr/>
        </p:nvSpPr>
        <p:spPr>
          <a:xfrm>
            <a:off x="8613648" y="2368296"/>
            <a:ext cx="277063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869ED"/>
                </a:solidFill>
                <a:latin typeface="Noto Sans CJK SC"/>
                <a:ea typeface="Noto Sans CJK SC"/>
              </a:rPr>
              <a:t>人</a:t>
            </a:r>
          </a:p>
        </p:txBody>
      </p:sp>
      <p:sp>
        <p:nvSpPr>
          <p:cNvPr id="19" name="Text 113"/>
          <p:cNvSpPr txBox="1"/>
          <p:nvPr/>
        </p:nvSpPr>
        <p:spPr>
          <a:xfrm>
            <a:off x="8567928" y="2953512"/>
            <a:ext cx="2862072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D48"/>
                </a:solidFill>
                <a:latin typeface="Noto Sans CJK SC"/>
                <a:ea typeface="Noto Sans CJK SC"/>
              </a:rPr>
              <a:t>作取舍与授权决定</a:t>
            </a:r>
          </a:p>
        </p:txBody>
      </p:sp>
      <p:sp>
        <p:nvSpPr>
          <p:cNvPr id="20" name="Text 114"/>
          <p:cNvSpPr txBox="1"/>
          <p:nvPr/>
        </p:nvSpPr>
        <p:spPr>
          <a:xfrm>
            <a:off x="841248" y="4023360"/>
            <a:ext cx="10570464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2D48"/>
                </a:solidFill>
                <a:latin typeface="Noto Sans CJK SC"/>
                <a:ea typeface="Noto Sans CJK SC"/>
              </a:rPr>
              <a:t>澳洲乳企：先对齐口径，再进入周会</a:t>
            </a:r>
          </a:p>
        </p:txBody>
      </p:sp>
      <p:sp>
        <p:nvSpPr>
          <p:cNvPr id="21" name="Text 115"/>
          <p:cNvSpPr txBox="1"/>
          <p:nvPr/>
        </p:nvSpPr>
        <p:spPr>
          <a:xfrm>
            <a:off x="841248" y="4672584"/>
            <a:ext cx="10533888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86C87"/>
                </a:solidFill>
                <a:latin typeface="Noto Sans CJK SC"/>
                <a:ea typeface="Noto Sans CJK SC"/>
              </a:rPr>
              <a:t>数字可追源 → 结论进入讨论 → 人确认费用与预算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5669280"/>
            <a:ext cx="10972800" cy="512064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 116"/>
          <p:cNvSpPr txBox="1"/>
          <p:nvPr/>
        </p:nvSpPr>
        <p:spPr>
          <a:xfrm>
            <a:off x="813816" y="5715000"/>
            <a:ext cx="1057046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69ED"/>
                </a:solidFill>
                <a:latin typeface="Noto Sans CJK SC"/>
                <a:ea typeface="Noto Sans CJK SC"/>
              </a:rPr>
              <a:t>让共同事实、有效版本与负责人提前到位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17"/>
          <p:cNvSpPr txBox="1"/>
          <p:nvPr/>
        </p:nvSpPr>
        <p:spPr>
          <a:xfrm>
            <a:off x="585216" y="320040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一芥智能研究院  /  企业数智化转型研究报告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768096"/>
            <a:ext cx="64008" cy="566928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118"/>
          <p:cNvSpPr txBox="1"/>
          <p:nvPr/>
        </p:nvSpPr>
        <p:spPr>
          <a:xfrm>
            <a:off x="813816" y="704088"/>
            <a:ext cx="1083564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D48"/>
                </a:solidFill>
                <a:latin typeface="Noto Sans CJK SC"/>
                <a:ea typeface="Noto Sans CJK SC"/>
              </a:rPr>
              <a:t>试错快：让一轮试验给出经营答案</a:t>
            </a:r>
          </a:p>
        </p:txBody>
      </p:sp>
      <p:sp>
        <p:nvSpPr>
          <p:cNvPr id="5" name="Text 119"/>
          <p:cNvSpPr txBox="1"/>
          <p:nvPr/>
        </p:nvSpPr>
        <p:spPr>
          <a:xfrm>
            <a:off x="822960" y="1399032"/>
            <a:ext cx="107259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温州连锁烘焙企业，把数据发现接到促销取舍与七天观察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82512"/>
            <a:ext cx="11009376" cy="0"/>
          </a:xfrm>
          <a:prstGeom prst="line">
            <a:avLst/>
          </a:prstGeom>
          <a:ln w="889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120"/>
          <p:cNvSpPr txBox="1"/>
          <p:nvPr/>
        </p:nvSpPr>
        <p:spPr>
          <a:xfrm>
            <a:off x="594360" y="6473952"/>
            <a:ext cx="105613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87"/>
                </a:solidFill>
                <a:latin typeface="Noto Sans CJK SC"/>
                <a:ea typeface="Noto Sans CJK SC"/>
                <a:hlinkClick r:id="rId2"/>
              </a:rPr>
              <a:t>来源：F11｜局部使用、经营者自述｜单次七天观察；上册5.4</a:t>
            </a:r>
          </a:p>
        </p:txBody>
      </p:sp>
      <p:sp>
        <p:nvSpPr>
          <p:cNvPr id="8" name="Text 121"/>
          <p:cNvSpPr txBox="1"/>
          <p:nvPr/>
        </p:nvSpPr>
        <p:spPr>
          <a:xfrm>
            <a:off x="11183112" y="6446520"/>
            <a:ext cx="42062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93976"/>
            <a:ext cx="33985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 122"/>
          <p:cNvSpPr txBox="1"/>
          <p:nvPr/>
        </p:nvSpPr>
        <p:spPr>
          <a:xfrm>
            <a:off x="749808" y="2203704"/>
            <a:ext cx="3270504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C2D48"/>
                </a:solidFill>
                <a:latin typeface="Noto Sans CJK SC"/>
                <a:ea typeface="Noto Sans CJK SC"/>
              </a:rPr>
              <a:t>发现毛利异常</a:t>
            </a:r>
          </a:p>
        </p:txBody>
      </p:sp>
      <p:sp>
        <p:nvSpPr>
          <p:cNvPr id="11" name="Chevron 10"/>
          <p:cNvSpPr/>
          <p:nvPr/>
        </p:nvSpPr>
        <p:spPr>
          <a:xfrm>
            <a:off x="4152900" y="2423160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95216" y="2093976"/>
            <a:ext cx="33985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 123"/>
          <p:cNvSpPr txBox="1"/>
          <p:nvPr/>
        </p:nvSpPr>
        <p:spPr>
          <a:xfrm>
            <a:off x="4459224" y="2203704"/>
            <a:ext cx="3270504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C2D48"/>
                </a:solidFill>
                <a:latin typeface="Noto Sans CJK SC"/>
                <a:ea typeface="Noto Sans CJK SC"/>
              </a:rPr>
              <a:t>经营者调整促销</a:t>
            </a:r>
          </a:p>
        </p:txBody>
      </p:sp>
      <p:sp>
        <p:nvSpPr>
          <p:cNvPr id="14" name="Chevron 13"/>
          <p:cNvSpPr/>
          <p:nvPr/>
        </p:nvSpPr>
        <p:spPr>
          <a:xfrm>
            <a:off x="7862315" y="2423160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4632" y="2093976"/>
            <a:ext cx="33985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 124"/>
          <p:cNvSpPr txBox="1"/>
          <p:nvPr/>
        </p:nvSpPr>
        <p:spPr>
          <a:xfrm>
            <a:off x="8168640" y="2203704"/>
            <a:ext cx="3270504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C2D48"/>
                </a:solidFill>
                <a:latin typeface="Noto Sans CJK SC"/>
                <a:ea typeface="Noto Sans CJK SC"/>
              </a:rPr>
              <a:t>七天检验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72184" y="3355848"/>
            <a:ext cx="4352544" cy="17739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 125"/>
          <p:cNvSpPr txBox="1"/>
          <p:nvPr/>
        </p:nvSpPr>
        <p:spPr>
          <a:xfrm>
            <a:off x="1673352" y="3575304"/>
            <a:ext cx="3950208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86C87"/>
                </a:solidFill>
                <a:latin typeface="Noto Sans CJK SC"/>
                <a:ea typeface="Noto Sans CJK SC"/>
              </a:rPr>
              <a:t>销量</a:t>
            </a:r>
          </a:p>
        </p:txBody>
      </p:sp>
      <p:sp>
        <p:nvSpPr>
          <p:cNvPr id="19" name="Text 126"/>
          <p:cNvSpPr txBox="1"/>
          <p:nvPr/>
        </p:nvSpPr>
        <p:spPr>
          <a:xfrm>
            <a:off x="1673352" y="4224528"/>
            <a:ext cx="3950208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69ED"/>
                </a:solidFill>
                <a:latin typeface="Noto Sans CJK SC"/>
                <a:ea typeface="Noto Sans CJK SC"/>
              </a:rPr>
              <a:t>下降 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355848"/>
            <a:ext cx="4352544" cy="17739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 127"/>
          <p:cNvSpPr txBox="1"/>
          <p:nvPr/>
        </p:nvSpPr>
        <p:spPr>
          <a:xfrm>
            <a:off x="6556248" y="3575304"/>
            <a:ext cx="3950208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86C87"/>
                </a:solidFill>
                <a:latin typeface="Noto Sans CJK SC"/>
                <a:ea typeface="Noto Sans CJK SC"/>
              </a:rPr>
              <a:t>总毛利额</a:t>
            </a:r>
          </a:p>
        </p:txBody>
      </p:sp>
      <p:sp>
        <p:nvSpPr>
          <p:cNvPr id="22" name="Text 128"/>
          <p:cNvSpPr txBox="1"/>
          <p:nvPr/>
        </p:nvSpPr>
        <p:spPr>
          <a:xfrm>
            <a:off x="6556248" y="4224528"/>
            <a:ext cx="3950208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38D91"/>
                </a:solidFill>
                <a:latin typeface="Noto Sans CJK SC"/>
                <a:ea typeface="Noto Sans CJK SC"/>
              </a:rPr>
              <a:t>上升 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" y="5669280"/>
            <a:ext cx="10972800" cy="512064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 129"/>
          <p:cNvSpPr txBox="1"/>
          <p:nvPr/>
        </p:nvSpPr>
        <p:spPr>
          <a:xfrm>
            <a:off x="813816" y="5715000"/>
            <a:ext cx="1057046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69ED"/>
                </a:solidFill>
                <a:latin typeface="Noto Sans CJK SC"/>
                <a:ea typeface="Noto Sans CJK SC"/>
              </a:rPr>
              <a:t>把试验切小，用业务结果决定下一步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30"/>
          <p:cNvSpPr txBox="1"/>
          <p:nvPr/>
        </p:nvSpPr>
        <p:spPr>
          <a:xfrm>
            <a:off x="585216" y="320040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一芥智能研究院  /  企业数智化转型研究报告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768096"/>
            <a:ext cx="64008" cy="566928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131"/>
          <p:cNvSpPr txBox="1"/>
          <p:nvPr/>
        </p:nvSpPr>
        <p:spPr>
          <a:xfrm>
            <a:off x="813816" y="704088"/>
            <a:ext cx="1083564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D48"/>
                </a:solidFill>
                <a:latin typeface="Noto Sans CJK SC"/>
                <a:ea typeface="Noto Sans CJK SC"/>
              </a:rPr>
              <a:t>快来自整条履约链路接起来</a:t>
            </a:r>
          </a:p>
        </p:txBody>
      </p:sp>
      <p:sp>
        <p:nvSpPr>
          <p:cNvPr id="5" name="Text 132"/>
          <p:cNvSpPr txBox="1"/>
          <p:nvPr/>
        </p:nvSpPr>
        <p:spPr>
          <a:xfrm>
            <a:off x="822960" y="1399032"/>
            <a:ext cx="107259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TikTok达人运营试点：匹配、创作支持、状态提醒与人接手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82512"/>
            <a:ext cx="11009376" cy="0"/>
          </a:xfrm>
          <a:prstGeom prst="line">
            <a:avLst/>
          </a:prstGeom>
          <a:ln w="889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133"/>
          <p:cNvSpPr txBox="1"/>
          <p:nvPr/>
        </p:nvSpPr>
        <p:spPr>
          <a:xfrm>
            <a:off x="594360" y="6473952"/>
            <a:ext cx="105613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87"/>
                </a:solidFill>
                <a:latin typeface="Noto Sans CJK SC"/>
                <a:ea typeface="Noto Sans CJK SC"/>
                <a:hlinkClick r:id="rId2"/>
              </a:rPr>
              <a:t>来源：L01｜试点、第三方实施者自述｜确定合作至内容提交；上册3.3.4</a:t>
            </a:r>
          </a:p>
        </p:txBody>
      </p:sp>
      <p:sp>
        <p:nvSpPr>
          <p:cNvPr id="8" name="Text 134"/>
          <p:cNvSpPr txBox="1"/>
          <p:nvPr/>
        </p:nvSpPr>
        <p:spPr>
          <a:xfrm>
            <a:off x="11183112" y="6446520"/>
            <a:ext cx="42062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09</a:t>
            </a:r>
          </a:p>
        </p:txBody>
      </p:sp>
      <p:sp>
        <p:nvSpPr>
          <p:cNvPr id="9" name="Text 135"/>
          <p:cNvSpPr txBox="1"/>
          <p:nvPr/>
        </p:nvSpPr>
        <p:spPr>
          <a:xfrm>
            <a:off x="758952" y="2029968"/>
            <a:ext cx="4645152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586C87"/>
                </a:solidFill>
                <a:latin typeface="Noto Sans CJK SC"/>
                <a:ea typeface="Noto Sans CJK SC"/>
              </a:rPr>
              <a:t>约一个月</a:t>
            </a:r>
          </a:p>
        </p:txBody>
      </p:sp>
      <p:sp>
        <p:nvSpPr>
          <p:cNvPr id="10" name="Chevron 9"/>
          <p:cNvSpPr/>
          <p:nvPr/>
        </p:nvSpPr>
        <p:spPr>
          <a:xfrm>
            <a:off x="5596128" y="2267712"/>
            <a:ext cx="731520" cy="3931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 136"/>
          <p:cNvSpPr txBox="1"/>
          <p:nvPr/>
        </p:nvSpPr>
        <p:spPr>
          <a:xfrm>
            <a:off x="6574536" y="2029968"/>
            <a:ext cx="4654296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2869ED"/>
                </a:solidFill>
                <a:latin typeface="Noto Sans CJK SC"/>
                <a:ea typeface="Noto Sans CJK SC"/>
              </a:rPr>
              <a:t>约18天</a:t>
            </a:r>
          </a:p>
        </p:txBody>
      </p:sp>
      <p:sp>
        <p:nvSpPr>
          <p:cNvPr id="12" name="Text 137"/>
          <p:cNvSpPr txBox="1"/>
          <p:nvPr/>
        </p:nvSpPr>
        <p:spPr>
          <a:xfrm>
            <a:off x="850392" y="2980944"/>
            <a:ext cx="1056132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C87"/>
                </a:solidFill>
                <a:latin typeface="Noto Sans CJK SC"/>
                <a:ea typeface="Noto Sans CJK SC"/>
              </a:rPr>
              <a:t>确定合作 → 收样 → 创作 → 提交的平均周期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58768"/>
            <a:ext cx="2471166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 138"/>
          <p:cNvSpPr txBox="1"/>
          <p:nvPr/>
        </p:nvSpPr>
        <p:spPr>
          <a:xfrm>
            <a:off x="749808" y="3968496"/>
            <a:ext cx="234315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C2D48"/>
                </a:solidFill>
                <a:latin typeface="Noto Sans CJK SC"/>
                <a:ea typeface="Noto Sans CJK SC"/>
              </a:rPr>
              <a:t>匹配与合作</a:t>
            </a:r>
          </a:p>
        </p:txBody>
      </p:sp>
      <p:sp>
        <p:nvSpPr>
          <p:cNvPr id="15" name="Chevron 14"/>
          <p:cNvSpPr/>
          <p:nvPr/>
        </p:nvSpPr>
        <p:spPr>
          <a:xfrm>
            <a:off x="3225546" y="4197096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67862" y="3858768"/>
            <a:ext cx="2471166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 139"/>
          <p:cNvSpPr txBox="1"/>
          <p:nvPr/>
        </p:nvSpPr>
        <p:spPr>
          <a:xfrm>
            <a:off x="3531870" y="3968496"/>
            <a:ext cx="234315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C2D48"/>
                </a:solidFill>
                <a:latin typeface="Noto Sans CJK SC"/>
                <a:ea typeface="Noto Sans CJK SC"/>
              </a:rPr>
              <a:t>收样</a:t>
            </a:r>
          </a:p>
        </p:txBody>
      </p:sp>
      <p:sp>
        <p:nvSpPr>
          <p:cNvPr id="18" name="Chevron 17"/>
          <p:cNvSpPr/>
          <p:nvPr/>
        </p:nvSpPr>
        <p:spPr>
          <a:xfrm>
            <a:off x="6007608" y="4197096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49924" y="3858768"/>
            <a:ext cx="2471166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 140"/>
          <p:cNvSpPr txBox="1"/>
          <p:nvPr/>
        </p:nvSpPr>
        <p:spPr>
          <a:xfrm>
            <a:off x="6313932" y="3968496"/>
            <a:ext cx="234315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C2D48"/>
                </a:solidFill>
                <a:latin typeface="Noto Sans CJK SC"/>
                <a:ea typeface="Noto Sans CJK SC"/>
              </a:rPr>
              <a:t>创作</a:t>
            </a:r>
          </a:p>
        </p:txBody>
      </p:sp>
      <p:sp>
        <p:nvSpPr>
          <p:cNvPr id="21" name="Chevron 20"/>
          <p:cNvSpPr/>
          <p:nvPr/>
        </p:nvSpPr>
        <p:spPr>
          <a:xfrm>
            <a:off x="8789669" y="4197096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31986" y="3858768"/>
            <a:ext cx="2471166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 141"/>
          <p:cNvSpPr txBox="1"/>
          <p:nvPr/>
        </p:nvSpPr>
        <p:spPr>
          <a:xfrm>
            <a:off x="9095994" y="3968496"/>
            <a:ext cx="234315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C2D48"/>
                </a:solidFill>
                <a:latin typeface="Noto Sans CJK SC"/>
                <a:ea typeface="Noto Sans CJK SC"/>
              </a:rPr>
              <a:t>提交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5669280"/>
            <a:ext cx="10972800" cy="512064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 142"/>
          <p:cNvSpPr txBox="1"/>
          <p:nvPr/>
        </p:nvSpPr>
        <p:spPr>
          <a:xfrm>
            <a:off x="813816" y="5715000"/>
            <a:ext cx="1057046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69ED"/>
                </a:solidFill>
                <a:latin typeface="Noto Sans CJK SC"/>
                <a:ea typeface="Noto Sans CJK SC"/>
              </a:rPr>
              <a:t>人接手核心沟通与逾期；前道产物连接后续动作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43"/>
          <p:cNvSpPr txBox="1"/>
          <p:nvPr/>
        </p:nvSpPr>
        <p:spPr>
          <a:xfrm>
            <a:off x="585216" y="320040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一芥智能研究院  /  企业数智化转型研究报告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768096"/>
            <a:ext cx="64008" cy="566928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144"/>
          <p:cNvSpPr txBox="1"/>
          <p:nvPr/>
        </p:nvSpPr>
        <p:spPr>
          <a:xfrm>
            <a:off x="813816" y="704088"/>
            <a:ext cx="1083564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D48"/>
                </a:solidFill>
                <a:latin typeface="Noto Sans CJK SC"/>
                <a:ea typeface="Noto Sans CJK SC"/>
              </a:rPr>
              <a:t>复制快：把经验变成可调用的方法</a:t>
            </a:r>
          </a:p>
        </p:txBody>
      </p:sp>
      <p:sp>
        <p:nvSpPr>
          <p:cNvPr id="5" name="Text 145"/>
          <p:cNvSpPr txBox="1"/>
          <p:nvPr/>
        </p:nvSpPr>
        <p:spPr>
          <a:xfrm>
            <a:off x="822960" y="1399032"/>
            <a:ext cx="107259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方法带着输入、适用条件、验收与维护责任，进入新任务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82512"/>
            <a:ext cx="11009376" cy="0"/>
          </a:xfrm>
          <a:prstGeom prst="line">
            <a:avLst/>
          </a:prstGeom>
          <a:ln w="889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146"/>
          <p:cNvSpPr txBox="1"/>
          <p:nvPr/>
        </p:nvSpPr>
        <p:spPr>
          <a:xfrm>
            <a:off x="594360" y="6473952"/>
            <a:ext cx="105613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87"/>
                </a:solidFill>
                <a:latin typeface="Noto Sans CJK SC"/>
                <a:ea typeface="Noto Sans CJK SC"/>
                <a:hlinkClick r:id="rId2"/>
              </a:rPr>
              <a:t>参照：L05 CGL｜局部使用、企业访谈｜方法与系统接入；上册2.4、4.3.2</a:t>
            </a:r>
          </a:p>
        </p:txBody>
      </p:sp>
      <p:sp>
        <p:nvSpPr>
          <p:cNvPr id="8" name="Text 147"/>
          <p:cNvSpPr txBox="1"/>
          <p:nvPr/>
        </p:nvSpPr>
        <p:spPr>
          <a:xfrm>
            <a:off x="11183112" y="6446520"/>
            <a:ext cx="42062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86584"/>
            <a:ext cx="2471166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 148"/>
          <p:cNvSpPr txBox="1"/>
          <p:nvPr/>
        </p:nvSpPr>
        <p:spPr>
          <a:xfrm>
            <a:off x="749808" y="2496312"/>
            <a:ext cx="2343150" cy="10789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C2D48"/>
                </a:solidFill>
                <a:latin typeface="Noto Sans CJK SC"/>
                <a:ea typeface="Noto Sans CJK SC"/>
              </a:rPr>
              <a:t>已跑通任务</a:t>
            </a:r>
          </a:p>
        </p:txBody>
      </p:sp>
      <p:sp>
        <p:nvSpPr>
          <p:cNvPr id="11" name="Chevron 10"/>
          <p:cNvSpPr/>
          <p:nvPr/>
        </p:nvSpPr>
        <p:spPr>
          <a:xfrm>
            <a:off x="3225546" y="2953512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67862" y="2386584"/>
            <a:ext cx="2471166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 149"/>
          <p:cNvSpPr txBox="1"/>
          <p:nvPr/>
        </p:nvSpPr>
        <p:spPr>
          <a:xfrm>
            <a:off x="3531870" y="2496312"/>
            <a:ext cx="2343150" cy="10789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C2D48"/>
                </a:solidFill>
                <a:latin typeface="Noto Sans CJK SC"/>
                <a:ea typeface="Noto Sans CJK SC"/>
              </a:rPr>
              <a:t>方法与适用条件</a:t>
            </a:r>
          </a:p>
        </p:txBody>
      </p:sp>
      <p:sp>
        <p:nvSpPr>
          <p:cNvPr id="14" name="Chevron 13"/>
          <p:cNvSpPr/>
          <p:nvPr/>
        </p:nvSpPr>
        <p:spPr>
          <a:xfrm>
            <a:off x="6007608" y="2953512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9924" y="2386584"/>
            <a:ext cx="2471166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 150"/>
          <p:cNvSpPr txBox="1"/>
          <p:nvPr/>
        </p:nvSpPr>
        <p:spPr>
          <a:xfrm>
            <a:off x="6313932" y="2496312"/>
            <a:ext cx="2343150" cy="10789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C2D48"/>
                </a:solidFill>
                <a:latin typeface="Noto Sans CJK SC"/>
                <a:ea typeface="Noto Sans CJK SC"/>
              </a:rPr>
              <a:t>技能、工具与系统</a:t>
            </a:r>
          </a:p>
        </p:txBody>
      </p:sp>
      <p:sp>
        <p:nvSpPr>
          <p:cNvPr id="17" name="Chevron 16"/>
          <p:cNvSpPr/>
          <p:nvPr/>
        </p:nvSpPr>
        <p:spPr>
          <a:xfrm>
            <a:off x="8789669" y="2953512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31986" y="2386584"/>
            <a:ext cx="2471166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 151"/>
          <p:cNvSpPr txBox="1"/>
          <p:nvPr/>
        </p:nvSpPr>
        <p:spPr>
          <a:xfrm>
            <a:off x="9095994" y="2496312"/>
            <a:ext cx="2343150" cy="10789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C2D48"/>
                </a:solidFill>
                <a:latin typeface="Noto Sans CJK SC"/>
                <a:ea typeface="Noto Sans CJK SC"/>
              </a:rPr>
              <a:t>新任务实际采用</a:t>
            </a:r>
          </a:p>
        </p:txBody>
      </p:sp>
      <p:sp>
        <p:nvSpPr>
          <p:cNvPr id="20" name="Text 152"/>
          <p:cNvSpPr txBox="1"/>
          <p:nvPr/>
        </p:nvSpPr>
        <p:spPr>
          <a:xfrm>
            <a:off x="822960" y="4279392"/>
            <a:ext cx="1056132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30" b="1">
                <a:solidFill>
                  <a:srgbClr val="1C2D48"/>
                </a:solidFill>
                <a:latin typeface="Noto Sans CJK SC"/>
                <a:ea typeface="Noto Sans CJK SC"/>
              </a:rPr>
              <a:t>CGL：试验团队 → 需求回应 → 技能沉淀 → 业务库接入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5669280"/>
            <a:ext cx="10972800" cy="512064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 153"/>
          <p:cNvSpPr txBox="1"/>
          <p:nvPr/>
        </p:nvSpPr>
        <p:spPr>
          <a:xfrm>
            <a:off x="813816" y="5715000"/>
            <a:ext cx="1057046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69ED"/>
                </a:solidFill>
                <a:latin typeface="Noto Sans CJK SC"/>
                <a:ea typeface="Noto Sans CJK SC"/>
              </a:rPr>
              <a:t>让其他人也能用，才完成一次复制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54"/>
          <p:cNvSpPr txBox="1"/>
          <p:nvPr/>
        </p:nvSpPr>
        <p:spPr>
          <a:xfrm>
            <a:off x="585216" y="320040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一芥智能研究院  /  企业数智化转型研究报告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768096"/>
            <a:ext cx="64008" cy="566928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155"/>
          <p:cNvSpPr txBox="1"/>
          <p:nvPr/>
        </p:nvSpPr>
        <p:spPr>
          <a:xfrm>
            <a:off x="813816" y="704088"/>
            <a:ext cx="1083564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D48"/>
                </a:solidFill>
                <a:latin typeface="Noto Sans CJK SC"/>
                <a:ea typeface="Noto Sans CJK SC"/>
              </a:rPr>
              <a:t>切换快：新依据出现，就调整资源</a:t>
            </a:r>
          </a:p>
        </p:txBody>
      </p:sp>
      <p:sp>
        <p:nvSpPr>
          <p:cNvPr id="5" name="Text 156"/>
          <p:cNvSpPr txBox="1"/>
          <p:nvPr/>
        </p:nvSpPr>
        <p:spPr>
          <a:xfrm>
            <a:off x="822960" y="1399032"/>
            <a:ext cx="107259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调整任务、方案和投入，使业务能沿适配路径继续运行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82512"/>
            <a:ext cx="11009376" cy="0"/>
          </a:xfrm>
          <a:prstGeom prst="line">
            <a:avLst/>
          </a:prstGeom>
          <a:ln w="889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157"/>
          <p:cNvSpPr txBox="1"/>
          <p:nvPr/>
        </p:nvSpPr>
        <p:spPr>
          <a:xfrm>
            <a:off x="594360" y="6473952"/>
            <a:ext cx="105613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87"/>
                </a:solidFill>
                <a:latin typeface="Noto Sans CJK SC"/>
                <a:ea typeface="Noto Sans CJK SC"/>
                <a:hlinkClick r:id="rId2"/>
              </a:rPr>
              <a:t>参照：M02消防维保｜局部使用、实施者自述｜建设与采购取舍；上册5.5</a:t>
            </a:r>
          </a:p>
        </p:txBody>
      </p:sp>
      <p:sp>
        <p:nvSpPr>
          <p:cNvPr id="8" name="Text 158"/>
          <p:cNvSpPr txBox="1"/>
          <p:nvPr/>
        </p:nvSpPr>
        <p:spPr>
          <a:xfrm>
            <a:off x="11183112" y="6446520"/>
            <a:ext cx="42062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2103120"/>
            <a:ext cx="3236976" cy="16093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 159"/>
          <p:cNvSpPr txBox="1"/>
          <p:nvPr/>
        </p:nvSpPr>
        <p:spPr>
          <a:xfrm>
            <a:off x="868680" y="2368296"/>
            <a:ext cx="2944368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869ED"/>
                </a:solidFill>
                <a:latin typeface="Noto Sans CJK SC"/>
                <a:ea typeface="Noto Sans CJK SC"/>
              </a:rPr>
              <a:t>调整范围</a:t>
            </a:r>
          </a:p>
        </p:txBody>
      </p:sp>
      <p:sp>
        <p:nvSpPr>
          <p:cNvPr id="11" name="Text 160"/>
          <p:cNvSpPr txBox="1"/>
          <p:nvPr/>
        </p:nvSpPr>
        <p:spPr>
          <a:xfrm>
            <a:off x="868680" y="2944368"/>
            <a:ext cx="294436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86C87"/>
                </a:solidFill>
                <a:latin typeface="Noto Sans CJK SC"/>
                <a:ea typeface="Noto Sans CJK SC"/>
              </a:rPr>
              <a:t>缩小或更换任务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103120"/>
            <a:ext cx="3236976" cy="16093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 161"/>
          <p:cNvSpPr txBox="1"/>
          <p:nvPr/>
        </p:nvSpPr>
        <p:spPr>
          <a:xfrm>
            <a:off x="4718304" y="2368296"/>
            <a:ext cx="2944368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869ED"/>
                </a:solidFill>
                <a:latin typeface="Noto Sans CJK SC"/>
                <a:ea typeface="Noto Sans CJK SC"/>
              </a:rPr>
              <a:t>调整组合</a:t>
            </a:r>
          </a:p>
        </p:txBody>
      </p:sp>
      <p:sp>
        <p:nvSpPr>
          <p:cNvPr id="14" name="Text 162"/>
          <p:cNvSpPr txBox="1"/>
          <p:nvPr/>
        </p:nvSpPr>
        <p:spPr>
          <a:xfrm>
            <a:off x="4718304" y="2944368"/>
            <a:ext cx="294436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86C87"/>
                </a:solidFill>
                <a:latin typeface="Noto Sans CJK SC"/>
                <a:ea typeface="Noto Sans CJK SC"/>
              </a:rPr>
              <a:t>人、AI、程序重新接力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21624" y="2103120"/>
            <a:ext cx="3236976" cy="16093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 163"/>
          <p:cNvSpPr txBox="1"/>
          <p:nvPr/>
        </p:nvSpPr>
        <p:spPr>
          <a:xfrm>
            <a:off x="8567928" y="2368296"/>
            <a:ext cx="2944368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869ED"/>
                </a:solidFill>
                <a:latin typeface="Noto Sans CJK SC"/>
                <a:ea typeface="Noto Sans CJK SC"/>
              </a:rPr>
              <a:t>调整投入</a:t>
            </a:r>
          </a:p>
        </p:txBody>
      </p:sp>
      <p:sp>
        <p:nvSpPr>
          <p:cNvPr id="17" name="Text 164"/>
          <p:cNvSpPr txBox="1"/>
          <p:nvPr/>
        </p:nvSpPr>
        <p:spPr>
          <a:xfrm>
            <a:off x="8567928" y="2944368"/>
            <a:ext cx="294436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86C87"/>
                </a:solidFill>
                <a:latin typeface="Noto Sans CJK SC"/>
                <a:ea typeface="Noto Sans CJK SC"/>
              </a:rPr>
              <a:t>继续、暂停或停止</a:t>
            </a:r>
          </a:p>
        </p:txBody>
      </p:sp>
      <p:sp>
        <p:nvSpPr>
          <p:cNvPr id="18" name="Text 165"/>
          <p:cNvSpPr txBox="1"/>
          <p:nvPr/>
        </p:nvSpPr>
        <p:spPr>
          <a:xfrm>
            <a:off x="813816" y="4114800"/>
            <a:ext cx="10597896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1C2D48"/>
                </a:solidFill>
                <a:latin typeface="Noto Sans CJK SC"/>
                <a:ea typeface="Noto Sans CJK SC"/>
              </a:rPr>
              <a:t>消防维保：无开放接口 → 改建设方案 → 叫停计划采购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" y="5084064"/>
            <a:ext cx="10597896" cy="630936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 166"/>
          <p:cNvSpPr txBox="1"/>
          <p:nvPr/>
        </p:nvSpPr>
        <p:spPr>
          <a:xfrm>
            <a:off x="932688" y="5157216"/>
            <a:ext cx="10323576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2869ED"/>
                </a:solidFill>
                <a:latin typeface="Noto Sans CJK SC"/>
                <a:ea typeface="Noto Sans CJK SC"/>
              </a:rPr>
              <a:t>约十万元｜一笔计划采购金额；AI月检描述仍为方向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67"/>
          <p:cNvSpPr txBox="1"/>
          <p:nvPr/>
        </p:nvSpPr>
        <p:spPr>
          <a:xfrm>
            <a:off x="585216" y="320040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一芥智能研究院  /  企业数智化转型研究报告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768096"/>
            <a:ext cx="64008" cy="566928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168"/>
          <p:cNvSpPr txBox="1"/>
          <p:nvPr/>
        </p:nvSpPr>
        <p:spPr>
          <a:xfrm>
            <a:off x="813816" y="704088"/>
            <a:ext cx="1083564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D48"/>
                </a:solidFill>
                <a:latin typeface="Noto Sans CJK SC"/>
                <a:ea typeface="Noto Sans CJK SC"/>
              </a:rPr>
              <a:t>四条流程共同决定客户结果</a:t>
            </a:r>
          </a:p>
        </p:txBody>
      </p:sp>
      <p:sp>
        <p:nvSpPr>
          <p:cNvPr id="5" name="Text 169"/>
          <p:cNvSpPr txBox="1"/>
          <p:nvPr/>
        </p:nvSpPr>
        <p:spPr>
          <a:xfrm>
            <a:off x="822960" y="1399032"/>
            <a:ext cx="107259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市场、产品、销售履约和问题解决，并行协作、相互反馈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82512"/>
            <a:ext cx="11009376" cy="0"/>
          </a:xfrm>
          <a:prstGeom prst="line">
            <a:avLst/>
          </a:prstGeom>
          <a:ln w="889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170"/>
          <p:cNvSpPr txBox="1"/>
          <p:nvPr/>
        </p:nvSpPr>
        <p:spPr>
          <a:xfrm>
            <a:off x="594360" y="6473952"/>
            <a:ext cx="105613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87"/>
                </a:solidFill>
                <a:latin typeface="Noto Sans CJK SC"/>
                <a:ea typeface="Noto Sans CJK SC"/>
                <a:hlinkClick r:id="rId2"/>
              </a:rPr>
              <a:t>依据：上册3.1、3.4｜四流程应用全景，非机械串行</a:t>
            </a:r>
          </a:p>
        </p:txBody>
      </p:sp>
      <p:sp>
        <p:nvSpPr>
          <p:cNvPr id="8" name="Text 171"/>
          <p:cNvSpPr txBox="1"/>
          <p:nvPr/>
        </p:nvSpPr>
        <p:spPr>
          <a:xfrm>
            <a:off x="11183112" y="6446520"/>
            <a:ext cx="42062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12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05456" y="2798064"/>
            <a:ext cx="3593592" cy="1170432"/>
          </a:xfrm>
          <a:prstGeom prst="line">
            <a:avLst/>
          </a:prstGeom>
          <a:ln w="2540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099048" y="2798064"/>
            <a:ext cx="3474720" cy="1170432"/>
          </a:xfrm>
          <a:prstGeom prst="line">
            <a:avLst/>
          </a:prstGeom>
          <a:ln w="2540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505456" y="3968496"/>
            <a:ext cx="3593592" cy="1133856"/>
          </a:xfrm>
          <a:prstGeom prst="line">
            <a:avLst/>
          </a:prstGeom>
          <a:ln w="2540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6099048" y="3968496"/>
            <a:ext cx="3474720" cy="1133856"/>
          </a:xfrm>
          <a:prstGeom prst="line">
            <a:avLst/>
          </a:prstGeom>
          <a:ln w="2540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745736" y="3008376"/>
            <a:ext cx="2706624" cy="1938528"/>
          </a:xfrm>
          <a:prstGeom prst="ellipse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 172"/>
          <p:cNvSpPr txBox="1"/>
          <p:nvPr/>
        </p:nvSpPr>
        <p:spPr>
          <a:xfrm>
            <a:off x="4873752" y="3547872"/>
            <a:ext cx="2441448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</a:rPr>
              <a:t>客户结果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" y="2029968"/>
            <a:ext cx="3739896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 173"/>
          <p:cNvSpPr txBox="1"/>
          <p:nvPr/>
        </p:nvSpPr>
        <p:spPr>
          <a:xfrm>
            <a:off x="859536" y="2176272"/>
            <a:ext cx="877824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869ED"/>
                </a:solidFill>
                <a:latin typeface="Noto Sans CJK SC"/>
                <a:ea typeface="Noto Sans CJK SC"/>
              </a:rPr>
              <a:t>MTL</a:t>
            </a:r>
          </a:p>
        </p:txBody>
      </p:sp>
      <p:sp>
        <p:nvSpPr>
          <p:cNvPr id="17" name="Text 174"/>
          <p:cNvSpPr txBox="1"/>
          <p:nvPr/>
        </p:nvSpPr>
        <p:spPr>
          <a:xfrm>
            <a:off x="1892808" y="2185416"/>
            <a:ext cx="235000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C2D48"/>
                </a:solidFill>
                <a:latin typeface="Noto Sans CJK SC"/>
                <a:ea typeface="Noto Sans CJK SC"/>
              </a:rPr>
              <a:t>市场到线索</a:t>
            </a:r>
          </a:p>
        </p:txBody>
      </p:sp>
      <p:sp>
        <p:nvSpPr>
          <p:cNvPr id="18" name="Text 175"/>
          <p:cNvSpPr txBox="1"/>
          <p:nvPr/>
        </p:nvSpPr>
        <p:spPr>
          <a:xfrm>
            <a:off x="859536" y="2916936"/>
            <a:ext cx="338328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C87"/>
                </a:solidFill>
                <a:latin typeface="Noto Sans CJK SC"/>
                <a:ea typeface="Noto Sans CJK SC"/>
              </a:rPr>
              <a:t>销售接得住的有效线索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63256" y="2029968"/>
            <a:ext cx="3739896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 176"/>
          <p:cNvSpPr txBox="1"/>
          <p:nvPr/>
        </p:nvSpPr>
        <p:spPr>
          <a:xfrm>
            <a:off x="7927848" y="2176272"/>
            <a:ext cx="877824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869ED"/>
                </a:solidFill>
                <a:latin typeface="Noto Sans CJK SC"/>
                <a:ea typeface="Noto Sans CJK SC"/>
              </a:rPr>
              <a:t>IPD</a:t>
            </a:r>
          </a:p>
        </p:txBody>
      </p:sp>
      <p:sp>
        <p:nvSpPr>
          <p:cNvPr id="21" name="Text 177"/>
          <p:cNvSpPr txBox="1"/>
          <p:nvPr/>
        </p:nvSpPr>
        <p:spPr>
          <a:xfrm>
            <a:off x="8961120" y="2185416"/>
            <a:ext cx="235000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C2D48"/>
                </a:solidFill>
                <a:latin typeface="Noto Sans CJK SC"/>
                <a:ea typeface="Noto Sans CJK SC"/>
              </a:rPr>
              <a:t>集成产品开发</a:t>
            </a:r>
          </a:p>
        </p:txBody>
      </p:sp>
      <p:sp>
        <p:nvSpPr>
          <p:cNvPr id="22" name="Text 178"/>
          <p:cNvSpPr txBox="1"/>
          <p:nvPr/>
        </p:nvSpPr>
        <p:spPr>
          <a:xfrm>
            <a:off x="7927848" y="2916936"/>
            <a:ext cx="338328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C87"/>
                </a:solidFill>
                <a:latin typeface="Noto Sans CJK SC"/>
                <a:ea typeface="Noto Sans CJK SC"/>
              </a:rPr>
              <a:t>可销售、可交付的能力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" y="4334256"/>
            <a:ext cx="3739896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 179"/>
          <p:cNvSpPr txBox="1"/>
          <p:nvPr/>
        </p:nvSpPr>
        <p:spPr>
          <a:xfrm>
            <a:off x="859536" y="4480560"/>
            <a:ext cx="877824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869ED"/>
                </a:solidFill>
                <a:latin typeface="Noto Sans CJK SC"/>
                <a:ea typeface="Noto Sans CJK SC"/>
              </a:rPr>
              <a:t>LTC</a:t>
            </a:r>
          </a:p>
        </p:txBody>
      </p:sp>
      <p:sp>
        <p:nvSpPr>
          <p:cNvPr id="25" name="Text 180"/>
          <p:cNvSpPr txBox="1"/>
          <p:nvPr/>
        </p:nvSpPr>
        <p:spPr>
          <a:xfrm>
            <a:off x="1892808" y="4489704"/>
            <a:ext cx="235000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C2D48"/>
                </a:solidFill>
                <a:latin typeface="Noto Sans CJK SC"/>
                <a:ea typeface="Noto Sans CJK SC"/>
              </a:rPr>
              <a:t>线索到回款</a:t>
            </a:r>
          </a:p>
        </p:txBody>
      </p:sp>
      <p:sp>
        <p:nvSpPr>
          <p:cNvPr id="26" name="Text 181"/>
          <p:cNvSpPr txBox="1"/>
          <p:nvPr/>
        </p:nvSpPr>
        <p:spPr>
          <a:xfrm>
            <a:off x="859536" y="5221224"/>
            <a:ext cx="338328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C87"/>
                </a:solidFill>
                <a:latin typeface="Noto Sans CJK SC"/>
                <a:ea typeface="Noto Sans CJK SC"/>
              </a:rPr>
              <a:t>履约、验收与回款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63256" y="4334256"/>
            <a:ext cx="3739896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 182"/>
          <p:cNvSpPr txBox="1"/>
          <p:nvPr/>
        </p:nvSpPr>
        <p:spPr>
          <a:xfrm>
            <a:off x="7927848" y="4480560"/>
            <a:ext cx="877824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869ED"/>
                </a:solidFill>
                <a:latin typeface="Noto Sans CJK SC"/>
                <a:ea typeface="Noto Sans CJK SC"/>
              </a:rPr>
              <a:t>ITR</a:t>
            </a:r>
          </a:p>
        </p:txBody>
      </p:sp>
      <p:sp>
        <p:nvSpPr>
          <p:cNvPr id="29" name="Text 183"/>
          <p:cNvSpPr txBox="1"/>
          <p:nvPr/>
        </p:nvSpPr>
        <p:spPr>
          <a:xfrm>
            <a:off x="8961120" y="4489704"/>
            <a:ext cx="235000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C2D48"/>
                </a:solidFill>
                <a:latin typeface="Noto Sans CJK SC"/>
                <a:ea typeface="Noto Sans CJK SC"/>
              </a:rPr>
              <a:t>问题到解决</a:t>
            </a:r>
          </a:p>
        </p:txBody>
      </p:sp>
      <p:sp>
        <p:nvSpPr>
          <p:cNvPr id="30" name="Text 184"/>
          <p:cNvSpPr txBox="1"/>
          <p:nvPr/>
        </p:nvSpPr>
        <p:spPr>
          <a:xfrm>
            <a:off x="7927848" y="5221224"/>
            <a:ext cx="338328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C87"/>
                </a:solidFill>
                <a:latin typeface="Noto Sans CJK SC"/>
                <a:ea typeface="Noto Sans CJK SC"/>
              </a:rPr>
              <a:t>恢复使用与结果确认</a:t>
            </a:r>
          </a:p>
        </p:txBody>
      </p:sp>
      <p:sp>
        <p:nvSpPr>
          <p:cNvPr id="31" name="Text 185"/>
          <p:cNvSpPr txBox="1"/>
          <p:nvPr/>
        </p:nvSpPr>
        <p:spPr>
          <a:xfrm>
            <a:off x="4727448" y="5431536"/>
            <a:ext cx="2834640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869ED"/>
                </a:solidFill>
                <a:latin typeface="Noto Sans CJK SC"/>
                <a:ea typeface="Noto Sans CJK SC"/>
              </a:rPr>
              <a:t>共同责任 · 交接 · 反馈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86"/>
          <p:cNvSpPr txBox="1"/>
          <p:nvPr/>
        </p:nvSpPr>
        <p:spPr>
          <a:xfrm>
            <a:off x="585216" y="320040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一芥智能研究院  /  企业数智化转型研究报告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768096"/>
            <a:ext cx="64008" cy="566928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187"/>
          <p:cNvSpPr txBox="1"/>
          <p:nvPr/>
        </p:nvSpPr>
        <p:spPr>
          <a:xfrm>
            <a:off x="813816" y="704088"/>
            <a:ext cx="1083564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D48"/>
                </a:solidFill>
                <a:latin typeface="Noto Sans CJK SC"/>
                <a:ea typeface="Noto Sans CJK SC"/>
              </a:rPr>
              <a:t>把可用能力，连成组织的高速路网</a:t>
            </a:r>
          </a:p>
        </p:txBody>
      </p:sp>
      <p:sp>
        <p:nvSpPr>
          <p:cNvPr id="5" name="Text 188"/>
          <p:cNvSpPr txBox="1"/>
          <p:nvPr/>
        </p:nvSpPr>
        <p:spPr>
          <a:xfrm>
            <a:off x="822960" y="1399032"/>
            <a:ext cx="107259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道路是任务与接口，地图是共同依据，通行规则是责任与权限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82512"/>
            <a:ext cx="11009376" cy="0"/>
          </a:xfrm>
          <a:prstGeom prst="line">
            <a:avLst/>
          </a:prstGeom>
          <a:ln w="889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189"/>
          <p:cNvSpPr txBox="1"/>
          <p:nvPr/>
        </p:nvSpPr>
        <p:spPr>
          <a:xfrm>
            <a:off x="594360" y="6473952"/>
            <a:ext cx="105613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87"/>
                </a:solidFill>
                <a:latin typeface="Noto Sans CJK SC"/>
                <a:ea typeface="Noto Sans CJK SC"/>
                <a:hlinkClick r:id="rId2"/>
              </a:rPr>
              <a:t>依据：上册3.5.2、4.3.4｜路网为组织协同的类比</a:t>
            </a:r>
          </a:p>
        </p:txBody>
      </p:sp>
      <p:sp>
        <p:nvSpPr>
          <p:cNvPr id="8" name="Text 190"/>
          <p:cNvSpPr txBox="1"/>
          <p:nvPr/>
        </p:nvSpPr>
        <p:spPr>
          <a:xfrm>
            <a:off x="11183112" y="6446520"/>
            <a:ext cx="42062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221992"/>
            <a:ext cx="2066543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 191"/>
          <p:cNvSpPr txBox="1"/>
          <p:nvPr/>
        </p:nvSpPr>
        <p:spPr>
          <a:xfrm>
            <a:off x="859536" y="2322576"/>
            <a:ext cx="1856231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869ED"/>
                </a:solidFill>
                <a:latin typeface="Noto Sans CJK SC"/>
                <a:ea typeface="Noto Sans CJK SC"/>
              </a:rPr>
              <a:t>人</a:t>
            </a:r>
          </a:p>
        </p:txBody>
      </p:sp>
      <p:sp>
        <p:nvSpPr>
          <p:cNvPr id="11" name="Text 192"/>
          <p:cNvSpPr txBox="1"/>
          <p:nvPr/>
        </p:nvSpPr>
        <p:spPr>
          <a:xfrm>
            <a:off x="3090672" y="2350008"/>
            <a:ext cx="2752344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专业判断 · 承诺 · 异常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79592" y="2569464"/>
            <a:ext cx="5266944" cy="0"/>
          </a:xfrm>
          <a:prstGeom prst="line">
            <a:avLst/>
          </a:prstGeom>
          <a:ln w="25400">
            <a:solidFill>
              <a:srgbClr val="286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163056" y="2441448"/>
            <a:ext cx="228600" cy="228600"/>
          </a:xfrm>
          <a:prstGeom prst="ellipse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65008" y="2441448"/>
            <a:ext cx="228600" cy="228600"/>
          </a:xfrm>
          <a:prstGeom prst="ellipse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22408" y="2441448"/>
            <a:ext cx="228600" cy="228600"/>
          </a:xfrm>
          <a:prstGeom prst="ellipse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3218688"/>
            <a:ext cx="2066543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 193"/>
          <p:cNvSpPr txBox="1"/>
          <p:nvPr/>
        </p:nvSpPr>
        <p:spPr>
          <a:xfrm>
            <a:off x="859536" y="3319272"/>
            <a:ext cx="1856231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869ED"/>
                </a:solidFill>
                <a:latin typeface="Noto Sans CJK SC"/>
                <a:ea typeface="Noto Sans CJK SC"/>
              </a:rPr>
              <a:t>AI / 智能体</a:t>
            </a:r>
          </a:p>
        </p:txBody>
      </p:sp>
      <p:sp>
        <p:nvSpPr>
          <p:cNvPr id="18" name="Text 194"/>
          <p:cNvSpPr txBox="1"/>
          <p:nvPr/>
        </p:nvSpPr>
        <p:spPr>
          <a:xfrm>
            <a:off x="3090672" y="3346704"/>
            <a:ext cx="2752344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整理 · 初稿 · 匹配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79592" y="3566160"/>
            <a:ext cx="5266944" cy="0"/>
          </a:xfrm>
          <a:prstGeom prst="line">
            <a:avLst/>
          </a:prstGeom>
          <a:ln w="25400">
            <a:solidFill>
              <a:srgbClr val="286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163056" y="3438144"/>
            <a:ext cx="228600" cy="228600"/>
          </a:xfrm>
          <a:prstGeom prst="ellipse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65008" y="3438144"/>
            <a:ext cx="228600" cy="228600"/>
          </a:xfrm>
          <a:prstGeom prst="ellipse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22408" y="3438144"/>
            <a:ext cx="228600" cy="228600"/>
          </a:xfrm>
          <a:prstGeom prst="ellipse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9808" y="4215384"/>
            <a:ext cx="2066543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 195"/>
          <p:cNvSpPr txBox="1"/>
          <p:nvPr/>
        </p:nvSpPr>
        <p:spPr>
          <a:xfrm>
            <a:off x="859536" y="4315968"/>
            <a:ext cx="1856231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869ED"/>
                </a:solidFill>
                <a:latin typeface="Noto Sans CJK SC"/>
                <a:ea typeface="Noto Sans CJK SC"/>
              </a:rPr>
              <a:t>程序</a:t>
            </a:r>
          </a:p>
        </p:txBody>
      </p:sp>
      <p:sp>
        <p:nvSpPr>
          <p:cNvPr id="25" name="Text 196"/>
          <p:cNvSpPr txBox="1"/>
          <p:nvPr/>
        </p:nvSpPr>
        <p:spPr>
          <a:xfrm>
            <a:off x="3090672" y="4343400"/>
            <a:ext cx="2752344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规则计算 · 状态 · 提醒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79592" y="4562856"/>
            <a:ext cx="5266944" cy="0"/>
          </a:xfrm>
          <a:prstGeom prst="line">
            <a:avLst/>
          </a:prstGeom>
          <a:ln w="25400">
            <a:solidFill>
              <a:srgbClr val="286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163056" y="4434840"/>
            <a:ext cx="228600" cy="228600"/>
          </a:xfrm>
          <a:prstGeom prst="ellipse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65008" y="4434840"/>
            <a:ext cx="228600" cy="228600"/>
          </a:xfrm>
          <a:prstGeom prst="ellipse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2408" y="4434840"/>
            <a:ext cx="228600" cy="228600"/>
          </a:xfrm>
          <a:prstGeom prst="ellipse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 197"/>
          <p:cNvSpPr txBox="1"/>
          <p:nvPr/>
        </p:nvSpPr>
        <p:spPr>
          <a:xfrm>
            <a:off x="5550408" y="5111496"/>
            <a:ext cx="1847088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C2D48"/>
                </a:solidFill>
                <a:latin typeface="Noto Sans CJK SC"/>
                <a:ea typeface="Noto Sans CJK SC"/>
              </a:rPr>
              <a:t>清楚的输入</a:t>
            </a:r>
          </a:p>
        </p:txBody>
      </p:sp>
      <p:sp>
        <p:nvSpPr>
          <p:cNvPr id="31" name="Text 198"/>
          <p:cNvSpPr txBox="1"/>
          <p:nvPr/>
        </p:nvSpPr>
        <p:spPr>
          <a:xfrm>
            <a:off x="7452359" y="5111496"/>
            <a:ext cx="1847088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C2D48"/>
                </a:solidFill>
                <a:latin typeface="Noto Sans CJK SC"/>
                <a:ea typeface="Noto Sans CJK SC"/>
              </a:rPr>
              <a:t>可验收产物</a:t>
            </a:r>
          </a:p>
        </p:txBody>
      </p:sp>
      <p:sp>
        <p:nvSpPr>
          <p:cNvPr id="32" name="Text 199"/>
          <p:cNvSpPr txBox="1"/>
          <p:nvPr/>
        </p:nvSpPr>
        <p:spPr>
          <a:xfrm>
            <a:off x="9509759" y="5111496"/>
            <a:ext cx="1847088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C2D48"/>
                </a:solidFill>
                <a:latin typeface="Noto Sans CJK SC"/>
                <a:ea typeface="Noto Sans CJK SC"/>
              </a:rPr>
              <a:t>下一棒接手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" y="5669280"/>
            <a:ext cx="10972800" cy="512064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 200"/>
          <p:cNvSpPr txBox="1"/>
          <p:nvPr/>
        </p:nvSpPr>
        <p:spPr>
          <a:xfrm>
            <a:off x="813816" y="5715000"/>
            <a:ext cx="1057046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69ED"/>
                </a:solidFill>
                <a:latin typeface="Noto Sans CJK SC"/>
                <a:ea typeface="Noto Sans CJK SC"/>
              </a:rPr>
              <a:t>共同依据延续，任务按能力、权限和容量派发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201"/>
          <p:cNvSpPr txBox="1"/>
          <p:nvPr/>
        </p:nvSpPr>
        <p:spPr>
          <a:xfrm>
            <a:off x="585216" y="320040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一芥智能研究院  /  企业数智化转型研究报告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768096"/>
            <a:ext cx="64008" cy="566928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202"/>
          <p:cNvSpPr txBox="1"/>
          <p:nvPr/>
        </p:nvSpPr>
        <p:spPr>
          <a:xfrm>
            <a:off x="813816" y="704088"/>
            <a:ext cx="1083564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D48"/>
                </a:solidFill>
                <a:latin typeface="Noto Sans CJK SC"/>
                <a:ea typeface="Noto Sans CJK SC"/>
              </a:rPr>
              <a:t>智力飞轮：让上一轮加快下一轮</a:t>
            </a:r>
          </a:p>
        </p:txBody>
      </p:sp>
      <p:sp>
        <p:nvSpPr>
          <p:cNvPr id="5" name="Text 203"/>
          <p:cNvSpPr txBox="1"/>
          <p:nvPr/>
        </p:nvSpPr>
        <p:spPr>
          <a:xfrm>
            <a:off x="822960" y="1399032"/>
            <a:ext cx="107259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每轮的结果与经验，改变后续使用的方法、工具和分工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82512"/>
            <a:ext cx="11009376" cy="0"/>
          </a:xfrm>
          <a:prstGeom prst="line">
            <a:avLst/>
          </a:prstGeom>
          <a:ln w="889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204"/>
          <p:cNvSpPr txBox="1"/>
          <p:nvPr/>
        </p:nvSpPr>
        <p:spPr>
          <a:xfrm>
            <a:off x="594360" y="6473952"/>
            <a:ext cx="105613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87"/>
                </a:solidFill>
                <a:latin typeface="Noto Sans CJK SC"/>
                <a:ea typeface="Noto Sans CJK SC"/>
                <a:hlinkClick r:id="rId2"/>
              </a:rPr>
              <a:t>依据：上册4.3｜智力飞轮的组织运行机制</a:t>
            </a:r>
          </a:p>
        </p:txBody>
      </p:sp>
      <p:sp>
        <p:nvSpPr>
          <p:cNvPr id="8" name="Text 205"/>
          <p:cNvSpPr txBox="1"/>
          <p:nvPr/>
        </p:nvSpPr>
        <p:spPr>
          <a:xfrm>
            <a:off x="11183112" y="6446520"/>
            <a:ext cx="42062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14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901952" y="2478024"/>
            <a:ext cx="4178808" cy="109728"/>
          </a:xfrm>
          <a:prstGeom prst="line">
            <a:avLst/>
          </a:prstGeom>
          <a:ln w="27940">
            <a:solidFill>
              <a:srgbClr val="286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2478024"/>
            <a:ext cx="4178808" cy="109728"/>
          </a:xfrm>
          <a:prstGeom prst="line">
            <a:avLst/>
          </a:prstGeom>
          <a:ln w="27940">
            <a:solidFill>
              <a:srgbClr val="286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650224" y="2587752"/>
            <a:ext cx="1609344" cy="2551176"/>
          </a:xfrm>
          <a:prstGeom prst="line">
            <a:avLst/>
          </a:prstGeom>
          <a:ln w="27940">
            <a:solidFill>
              <a:srgbClr val="286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319272" y="5138928"/>
            <a:ext cx="5330952" cy="0"/>
          </a:xfrm>
          <a:prstGeom prst="line">
            <a:avLst/>
          </a:prstGeom>
          <a:ln w="27940">
            <a:solidFill>
              <a:srgbClr val="286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1901952" y="2587752"/>
            <a:ext cx="1417320" cy="2551176"/>
          </a:xfrm>
          <a:prstGeom prst="line">
            <a:avLst/>
          </a:prstGeom>
          <a:ln w="27940">
            <a:solidFill>
              <a:srgbClr val="286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4944" y="2176272"/>
            <a:ext cx="2441448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 206"/>
          <p:cNvSpPr txBox="1"/>
          <p:nvPr/>
        </p:nvSpPr>
        <p:spPr>
          <a:xfrm>
            <a:off x="758952" y="2286000"/>
            <a:ext cx="2313432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C2D48"/>
                </a:solidFill>
                <a:latin typeface="Noto Sans CJK SC"/>
                <a:ea typeface="Noto Sans CJK SC"/>
              </a:rPr>
              <a:t>完成任务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73752" y="2066543"/>
            <a:ext cx="2441448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 207"/>
          <p:cNvSpPr txBox="1"/>
          <p:nvPr/>
        </p:nvSpPr>
        <p:spPr>
          <a:xfrm>
            <a:off x="4937760" y="2176272"/>
            <a:ext cx="2313432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C2D48"/>
                </a:solidFill>
                <a:latin typeface="Noto Sans CJK SC"/>
                <a:ea typeface="Noto Sans CJK SC"/>
              </a:rPr>
              <a:t>验收与采用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176272"/>
            <a:ext cx="2441448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 208"/>
          <p:cNvSpPr txBox="1"/>
          <p:nvPr/>
        </p:nvSpPr>
        <p:spPr>
          <a:xfrm>
            <a:off x="9116568" y="2286000"/>
            <a:ext cx="2313432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C2D48"/>
                </a:solidFill>
                <a:latin typeface="Noto Sans CJK SC"/>
                <a:ea typeface="Noto Sans CJK SC"/>
              </a:rPr>
              <a:t>提炼有效经验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43216" y="4727448"/>
            <a:ext cx="2441448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 209"/>
          <p:cNvSpPr txBox="1"/>
          <p:nvPr/>
        </p:nvSpPr>
        <p:spPr>
          <a:xfrm>
            <a:off x="7507224" y="4837176"/>
            <a:ext cx="2313432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C2D48"/>
                </a:solidFill>
                <a:latin typeface="Noto Sans CJK SC"/>
                <a:ea typeface="Noto Sans CJK SC"/>
              </a:rPr>
              <a:t>更新方法与工具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12264" y="4727448"/>
            <a:ext cx="2441448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 210"/>
          <p:cNvSpPr txBox="1"/>
          <p:nvPr/>
        </p:nvSpPr>
        <p:spPr>
          <a:xfrm>
            <a:off x="2176272" y="4837176"/>
            <a:ext cx="2313432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C2D48"/>
                </a:solidFill>
                <a:latin typeface="Noto Sans CJK SC"/>
                <a:ea typeface="Noto Sans CJK SC"/>
              </a:rPr>
              <a:t>新一轮执行</a:t>
            </a:r>
          </a:p>
        </p:txBody>
      </p:sp>
      <p:sp>
        <p:nvSpPr>
          <p:cNvPr id="24" name="Oval 23"/>
          <p:cNvSpPr/>
          <p:nvPr/>
        </p:nvSpPr>
        <p:spPr>
          <a:xfrm>
            <a:off x="4800600" y="3319272"/>
            <a:ext cx="2615184" cy="1755648"/>
          </a:xfrm>
          <a:prstGeom prst="ellipse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 211"/>
          <p:cNvSpPr txBox="1"/>
          <p:nvPr/>
        </p:nvSpPr>
        <p:spPr>
          <a:xfrm>
            <a:off x="4992624" y="3575304"/>
            <a:ext cx="2231136" cy="11247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</a:rPr>
              <a:t>有效业务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</a:rPr>
              <a:t>周转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" y="5733288"/>
            <a:ext cx="10972800" cy="512064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 212"/>
          <p:cNvSpPr txBox="1"/>
          <p:nvPr/>
        </p:nvSpPr>
        <p:spPr>
          <a:xfrm>
            <a:off x="813816" y="5779007"/>
            <a:ext cx="1057046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69ED"/>
                </a:solidFill>
                <a:latin typeface="Noto Sans CJK SC"/>
                <a:ea typeface="Noto Sans CJK SC"/>
              </a:rPr>
              <a:t>质量达标、收益覆盖完整投入，才持续扩大运行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213"/>
          <p:cNvSpPr txBox="1"/>
          <p:nvPr/>
        </p:nvSpPr>
        <p:spPr>
          <a:xfrm>
            <a:off x="585216" y="320040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一芥智能研究院  /  企业数智化转型研究报告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768096"/>
            <a:ext cx="64008" cy="566928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214"/>
          <p:cNvSpPr txBox="1"/>
          <p:nvPr/>
        </p:nvSpPr>
        <p:spPr>
          <a:xfrm>
            <a:off x="813816" y="704088"/>
            <a:ext cx="1083564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D48"/>
                </a:solidFill>
                <a:latin typeface="Noto Sans CJK SC"/>
                <a:ea typeface="Noto Sans CJK SC"/>
              </a:rPr>
              <a:t>快的累积，发生在反馈改变执行之后</a:t>
            </a:r>
          </a:p>
        </p:txBody>
      </p:sp>
      <p:sp>
        <p:nvSpPr>
          <p:cNvPr id="5" name="Text 215"/>
          <p:cNvSpPr txBox="1"/>
          <p:nvPr/>
        </p:nvSpPr>
        <p:spPr>
          <a:xfrm>
            <a:off x="822960" y="1399032"/>
            <a:ext cx="107259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更多有效反馈，经过验证进入方法，才有机会加快下一轮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82512"/>
            <a:ext cx="11009376" cy="0"/>
          </a:xfrm>
          <a:prstGeom prst="line">
            <a:avLst/>
          </a:prstGeom>
          <a:ln w="889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216"/>
          <p:cNvSpPr txBox="1"/>
          <p:nvPr/>
        </p:nvSpPr>
        <p:spPr>
          <a:xfrm>
            <a:off x="594360" y="6473952"/>
            <a:ext cx="105613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87"/>
                </a:solidFill>
                <a:latin typeface="Noto Sans CJK SC"/>
                <a:ea typeface="Noto Sans CJK SC"/>
                <a:hlinkClick r:id="rId2"/>
              </a:rPr>
              <a:t>依据：上册4.3.5、4.4｜持续改进关系，非确定的收益倍增</a:t>
            </a:r>
          </a:p>
        </p:txBody>
      </p:sp>
      <p:sp>
        <p:nvSpPr>
          <p:cNvPr id="8" name="Text 217"/>
          <p:cNvSpPr txBox="1"/>
          <p:nvPr/>
        </p:nvSpPr>
        <p:spPr>
          <a:xfrm>
            <a:off x="11183112" y="6446520"/>
            <a:ext cx="42062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2295144"/>
            <a:ext cx="3264408" cy="2615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 218"/>
          <p:cNvSpPr txBox="1"/>
          <p:nvPr/>
        </p:nvSpPr>
        <p:spPr>
          <a:xfrm>
            <a:off x="950976" y="2578608"/>
            <a:ext cx="2889504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869ED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1" name="Text 219"/>
          <p:cNvSpPr txBox="1"/>
          <p:nvPr/>
        </p:nvSpPr>
        <p:spPr>
          <a:xfrm>
            <a:off x="950976" y="3291840"/>
            <a:ext cx="2889504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350" b="1">
                <a:solidFill>
                  <a:srgbClr val="1C2D48"/>
                </a:solidFill>
                <a:latin typeface="Noto Sans CJK SC"/>
                <a:ea typeface="Noto Sans CJK SC"/>
              </a:rPr>
              <a:t>更多有效反馈</a:t>
            </a:r>
          </a:p>
        </p:txBody>
      </p:sp>
      <p:sp>
        <p:nvSpPr>
          <p:cNvPr id="12" name="Text 220"/>
          <p:cNvSpPr txBox="1"/>
          <p:nvPr/>
        </p:nvSpPr>
        <p:spPr>
          <a:xfrm>
            <a:off x="950976" y="4169663"/>
            <a:ext cx="2889504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86C87"/>
                </a:solidFill>
                <a:latin typeface="Noto Sans CJK SC"/>
                <a:ea typeface="Noto Sans CJK SC"/>
              </a:rPr>
              <a:t>更早知道哪里受阻</a:t>
            </a:r>
          </a:p>
        </p:txBody>
      </p:sp>
      <p:sp>
        <p:nvSpPr>
          <p:cNvPr id="13" name="Chevron 12"/>
          <p:cNvSpPr/>
          <p:nvPr/>
        </p:nvSpPr>
        <p:spPr>
          <a:xfrm>
            <a:off x="4187952" y="3456432"/>
            <a:ext cx="274320" cy="25603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295144"/>
            <a:ext cx="3264408" cy="2615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 221"/>
          <p:cNvSpPr txBox="1"/>
          <p:nvPr/>
        </p:nvSpPr>
        <p:spPr>
          <a:xfrm>
            <a:off x="4837176" y="2578608"/>
            <a:ext cx="2889504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869ED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6" name="Text 222"/>
          <p:cNvSpPr txBox="1"/>
          <p:nvPr/>
        </p:nvSpPr>
        <p:spPr>
          <a:xfrm>
            <a:off x="4837176" y="3291840"/>
            <a:ext cx="2889504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350" b="1">
                <a:solidFill>
                  <a:srgbClr val="1C2D48"/>
                </a:solidFill>
                <a:latin typeface="Noto Sans CJK SC"/>
                <a:ea typeface="Noto Sans CJK SC"/>
              </a:rPr>
              <a:t>方法实际改变</a:t>
            </a:r>
          </a:p>
        </p:txBody>
      </p:sp>
      <p:sp>
        <p:nvSpPr>
          <p:cNvPr id="17" name="Text 223"/>
          <p:cNvSpPr txBox="1"/>
          <p:nvPr/>
        </p:nvSpPr>
        <p:spPr>
          <a:xfrm>
            <a:off x="4837176" y="4169663"/>
            <a:ext cx="2889504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86C87"/>
                </a:solidFill>
                <a:latin typeface="Noto Sans CJK SC"/>
                <a:ea typeface="Noto Sans CJK SC"/>
              </a:rPr>
              <a:t>更新规则、工具和分工</a:t>
            </a:r>
          </a:p>
        </p:txBody>
      </p:sp>
      <p:sp>
        <p:nvSpPr>
          <p:cNvPr id="18" name="Chevron 17"/>
          <p:cNvSpPr/>
          <p:nvPr/>
        </p:nvSpPr>
        <p:spPr>
          <a:xfrm>
            <a:off x="8074152" y="3456432"/>
            <a:ext cx="274320" cy="25603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31352" y="2295144"/>
            <a:ext cx="3264408" cy="2615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 224"/>
          <p:cNvSpPr txBox="1"/>
          <p:nvPr/>
        </p:nvSpPr>
        <p:spPr>
          <a:xfrm>
            <a:off x="8723376" y="2578608"/>
            <a:ext cx="2889504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869ED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1" name="Text 225"/>
          <p:cNvSpPr txBox="1"/>
          <p:nvPr/>
        </p:nvSpPr>
        <p:spPr>
          <a:xfrm>
            <a:off x="8723376" y="3291840"/>
            <a:ext cx="2889504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350" b="1">
                <a:solidFill>
                  <a:srgbClr val="1C2D48"/>
                </a:solidFill>
                <a:latin typeface="Noto Sans CJK SC"/>
                <a:ea typeface="Noto Sans CJK SC"/>
              </a:rPr>
              <a:t>下一轮更顺</a:t>
            </a:r>
          </a:p>
        </p:txBody>
      </p:sp>
      <p:sp>
        <p:nvSpPr>
          <p:cNvPr id="22" name="Text 226"/>
          <p:cNvSpPr txBox="1"/>
          <p:nvPr/>
        </p:nvSpPr>
        <p:spPr>
          <a:xfrm>
            <a:off x="8723376" y="4169663"/>
            <a:ext cx="2889504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86C87"/>
                </a:solidFill>
                <a:latin typeface="Noto Sans CJK SC"/>
                <a:ea typeface="Noto Sans CJK SC"/>
              </a:rPr>
              <a:t>减少重复准备和返工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" y="5669280"/>
            <a:ext cx="10972800" cy="512064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 227"/>
          <p:cNvSpPr txBox="1"/>
          <p:nvPr/>
        </p:nvSpPr>
        <p:spPr>
          <a:xfrm>
            <a:off x="813816" y="5715000"/>
            <a:ext cx="1057046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69ED"/>
                </a:solidFill>
                <a:latin typeface="Noto Sans CJK SC"/>
                <a:ea typeface="Noto Sans CJK SC"/>
              </a:rPr>
              <a:t>优势来自持续改进被采用，而不是单纯多跑几圈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228"/>
          <p:cNvSpPr txBox="1"/>
          <p:nvPr/>
        </p:nvSpPr>
        <p:spPr>
          <a:xfrm>
            <a:off x="585216" y="320040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一芥智能研究院  /  企业数智化转型研究报告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768096"/>
            <a:ext cx="64008" cy="566928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229"/>
          <p:cNvSpPr txBox="1"/>
          <p:nvPr/>
        </p:nvSpPr>
        <p:spPr>
          <a:xfrm>
            <a:off x="813816" y="704088"/>
            <a:ext cx="1083564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D48"/>
                </a:solidFill>
                <a:latin typeface="Noto Sans CJK SC"/>
                <a:ea typeface="Noto Sans CJK SC"/>
              </a:rPr>
              <a:t>用有效业务周转，检验“快”</a:t>
            </a:r>
          </a:p>
        </p:txBody>
      </p:sp>
      <p:sp>
        <p:nvSpPr>
          <p:cNvPr id="5" name="Text 230"/>
          <p:cNvSpPr txBox="1"/>
          <p:nvPr/>
        </p:nvSpPr>
        <p:spPr>
          <a:xfrm>
            <a:off x="822960" y="1399032"/>
            <a:ext cx="107259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同类任务、同等质量与范围，固定起止点和观察期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82512"/>
            <a:ext cx="11009376" cy="0"/>
          </a:xfrm>
          <a:prstGeom prst="line">
            <a:avLst/>
          </a:prstGeom>
          <a:ln w="889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231"/>
          <p:cNvSpPr txBox="1"/>
          <p:nvPr/>
        </p:nvSpPr>
        <p:spPr>
          <a:xfrm>
            <a:off x="594360" y="6473952"/>
            <a:ext cx="105613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87"/>
                </a:solidFill>
                <a:latin typeface="Noto Sans CJK SC"/>
                <a:ea typeface="Noto Sans CJK SC"/>
                <a:hlinkClick r:id="rId2"/>
              </a:rPr>
              <a:t>依据：上册4.2.1、4.4、5.4｜主指标表达为本演示测量建议</a:t>
            </a:r>
          </a:p>
        </p:txBody>
      </p:sp>
      <p:sp>
        <p:nvSpPr>
          <p:cNvPr id="8" name="Text 232"/>
          <p:cNvSpPr txBox="1"/>
          <p:nvPr/>
        </p:nvSpPr>
        <p:spPr>
          <a:xfrm>
            <a:off x="11183112" y="6446520"/>
            <a:ext cx="42062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16</a:t>
            </a:r>
          </a:p>
        </p:txBody>
      </p:sp>
      <p:sp>
        <p:nvSpPr>
          <p:cNvPr id="9" name="Text 233"/>
          <p:cNvSpPr txBox="1"/>
          <p:nvPr/>
        </p:nvSpPr>
        <p:spPr>
          <a:xfrm>
            <a:off x="813816" y="2176272"/>
            <a:ext cx="10561320" cy="10241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2869ED"/>
                </a:solidFill>
                <a:latin typeface="Noto Sans CJK SC"/>
                <a:ea typeface="Noto Sans CJK SC"/>
              </a:rPr>
              <a:t>有效完成量 ÷ 观察期</a:t>
            </a:r>
          </a:p>
        </p:txBody>
      </p:sp>
      <p:sp>
        <p:nvSpPr>
          <p:cNvPr id="10" name="Text 234"/>
          <p:cNvSpPr txBox="1"/>
          <p:nvPr/>
        </p:nvSpPr>
        <p:spPr>
          <a:xfrm>
            <a:off x="813816" y="3337560"/>
            <a:ext cx="10561320" cy="4663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86C87"/>
                </a:solidFill>
                <a:latin typeface="Noto Sans CJK SC"/>
                <a:ea typeface="Noto Sans CJK SC"/>
              </a:rPr>
              <a:t>只计完成、合格且被下一环节采用的业务循环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4370832"/>
            <a:ext cx="329184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235"/>
          <p:cNvSpPr txBox="1"/>
          <p:nvPr/>
        </p:nvSpPr>
        <p:spPr>
          <a:xfrm>
            <a:off x="896112" y="4544568"/>
            <a:ext cx="3017520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C2D48"/>
                </a:solidFill>
                <a:latin typeface="Noto Sans CJK SC"/>
                <a:ea typeface="Noto Sans CJK SC"/>
              </a:rPr>
              <a:t>完整周期</a:t>
            </a:r>
          </a:p>
        </p:txBody>
      </p:sp>
      <p:sp>
        <p:nvSpPr>
          <p:cNvPr id="13" name="Text 236"/>
          <p:cNvSpPr txBox="1"/>
          <p:nvPr/>
        </p:nvSpPr>
        <p:spPr>
          <a:xfrm>
            <a:off x="896112" y="5029200"/>
            <a:ext cx="301752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处理、等待与返工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9432" y="4370832"/>
            <a:ext cx="329184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 237"/>
          <p:cNvSpPr txBox="1"/>
          <p:nvPr/>
        </p:nvSpPr>
        <p:spPr>
          <a:xfrm>
            <a:off x="4736592" y="4544568"/>
            <a:ext cx="3017520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C2D48"/>
                </a:solidFill>
                <a:latin typeface="Noto Sans CJK SC"/>
                <a:ea typeface="Noto Sans CJK SC"/>
              </a:rPr>
              <a:t>单位合格投入</a:t>
            </a:r>
          </a:p>
        </p:txBody>
      </p:sp>
      <p:sp>
        <p:nvSpPr>
          <p:cNvPr id="16" name="Text 238"/>
          <p:cNvSpPr txBox="1"/>
          <p:nvPr/>
        </p:nvSpPr>
        <p:spPr>
          <a:xfrm>
            <a:off x="4736592" y="5029200"/>
            <a:ext cx="301752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人、工具与维护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39912" y="4370832"/>
            <a:ext cx="329184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 239"/>
          <p:cNvSpPr txBox="1"/>
          <p:nvPr/>
        </p:nvSpPr>
        <p:spPr>
          <a:xfrm>
            <a:off x="8577072" y="4544568"/>
            <a:ext cx="3017520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C2D48"/>
                </a:solidFill>
                <a:latin typeface="Noto Sans CJK SC"/>
                <a:ea typeface="Noto Sans CJK SC"/>
              </a:rPr>
              <a:t>实际业务结果</a:t>
            </a:r>
          </a:p>
        </p:txBody>
      </p:sp>
      <p:sp>
        <p:nvSpPr>
          <p:cNvPr id="19" name="Text 240"/>
          <p:cNvSpPr txBox="1"/>
          <p:nvPr/>
        </p:nvSpPr>
        <p:spPr>
          <a:xfrm>
            <a:off x="8577072" y="5029200"/>
            <a:ext cx="301752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采用、转化与收益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241"/>
          <p:cNvSpPr txBox="1"/>
          <p:nvPr/>
        </p:nvSpPr>
        <p:spPr>
          <a:xfrm>
            <a:off x="585216" y="320040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一芥智能研究院  /  企业数智化转型研究报告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768096"/>
            <a:ext cx="64008" cy="566928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242"/>
          <p:cNvSpPr txBox="1"/>
          <p:nvPr/>
        </p:nvSpPr>
        <p:spPr>
          <a:xfrm>
            <a:off x="813816" y="704088"/>
            <a:ext cx="1083564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D48"/>
                </a:solidFill>
                <a:latin typeface="Noto Sans CJK SC"/>
                <a:ea typeface="Noto Sans CJK SC"/>
              </a:rPr>
              <a:t>加速，要把下一环节一起算进去</a:t>
            </a:r>
          </a:p>
        </p:txBody>
      </p:sp>
      <p:sp>
        <p:nvSpPr>
          <p:cNvPr id="5" name="Text 243"/>
          <p:cNvSpPr txBox="1"/>
          <p:nvPr/>
        </p:nvSpPr>
        <p:spPr>
          <a:xfrm>
            <a:off x="822960" y="1399032"/>
            <a:ext cx="107259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更多前道产出，需要审核、销售、交付和服务接得住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82512"/>
            <a:ext cx="11009376" cy="0"/>
          </a:xfrm>
          <a:prstGeom prst="line">
            <a:avLst/>
          </a:prstGeom>
          <a:ln w="889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244"/>
          <p:cNvSpPr txBox="1"/>
          <p:nvPr/>
        </p:nvSpPr>
        <p:spPr>
          <a:xfrm>
            <a:off x="594360" y="6473952"/>
            <a:ext cx="105613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87"/>
                </a:solidFill>
                <a:latin typeface="Noto Sans CJK SC"/>
                <a:ea typeface="Noto Sans CJK SC"/>
                <a:hlinkClick r:id="rId2"/>
              </a:rPr>
              <a:t>依据：上册3.5.3、4.2.3、5.5｜承接容量与进入量共同调整</a:t>
            </a:r>
          </a:p>
        </p:txBody>
      </p:sp>
      <p:sp>
        <p:nvSpPr>
          <p:cNvPr id="8" name="Text 245"/>
          <p:cNvSpPr txBox="1"/>
          <p:nvPr/>
        </p:nvSpPr>
        <p:spPr>
          <a:xfrm>
            <a:off x="11183112" y="6446520"/>
            <a:ext cx="42062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13432"/>
            <a:ext cx="2471166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 246"/>
          <p:cNvSpPr txBox="1"/>
          <p:nvPr/>
        </p:nvSpPr>
        <p:spPr>
          <a:xfrm>
            <a:off x="749808" y="2423160"/>
            <a:ext cx="2343150" cy="83210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C2D48"/>
                </a:solidFill>
                <a:latin typeface="Noto Sans CJK SC"/>
                <a:ea typeface="Noto Sans CJK SC"/>
              </a:rPr>
              <a:t>前道产出</a:t>
            </a:r>
          </a:p>
        </p:txBody>
      </p:sp>
      <p:sp>
        <p:nvSpPr>
          <p:cNvPr id="11" name="Chevron 10"/>
          <p:cNvSpPr/>
          <p:nvPr/>
        </p:nvSpPr>
        <p:spPr>
          <a:xfrm>
            <a:off x="3225546" y="2756915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67862" y="2313432"/>
            <a:ext cx="2471166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 247"/>
          <p:cNvSpPr txBox="1"/>
          <p:nvPr/>
        </p:nvSpPr>
        <p:spPr>
          <a:xfrm>
            <a:off x="3531870" y="2423160"/>
            <a:ext cx="2343150" cy="83210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C2D48"/>
                </a:solidFill>
                <a:latin typeface="Noto Sans CJK SC"/>
                <a:ea typeface="Noto Sans CJK SC"/>
              </a:rPr>
              <a:t>审核与核验</a:t>
            </a:r>
          </a:p>
        </p:txBody>
      </p:sp>
      <p:sp>
        <p:nvSpPr>
          <p:cNvPr id="14" name="Chevron 13"/>
          <p:cNvSpPr/>
          <p:nvPr/>
        </p:nvSpPr>
        <p:spPr>
          <a:xfrm>
            <a:off x="6007608" y="2756915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9924" y="2313432"/>
            <a:ext cx="2471166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 248"/>
          <p:cNvSpPr txBox="1"/>
          <p:nvPr/>
        </p:nvSpPr>
        <p:spPr>
          <a:xfrm>
            <a:off x="6313932" y="2423160"/>
            <a:ext cx="2343150" cy="83210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C2D48"/>
                </a:solidFill>
                <a:latin typeface="Noto Sans CJK SC"/>
                <a:ea typeface="Noto Sans CJK SC"/>
              </a:rPr>
              <a:t>销售接手</a:t>
            </a:r>
          </a:p>
        </p:txBody>
      </p:sp>
      <p:sp>
        <p:nvSpPr>
          <p:cNvPr id="17" name="Chevron 16"/>
          <p:cNvSpPr/>
          <p:nvPr/>
        </p:nvSpPr>
        <p:spPr>
          <a:xfrm>
            <a:off x="8789669" y="2756915"/>
            <a:ext cx="164592" cy="164592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31986" y="2313432"/>
            <a:ext cx="2471166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 249"/>
          <p:cNvSpPr txBox="1"/>
          <p:nvPr/>
        </p:nvSpPr>
        <p:spPr>
          <a:xfrm>
            <a:off x="9095994" y="2423160"/>
            <a:ext cx="2343150" cy="83210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C2D48"/>
                </a:solidFill>
                <a:latin typeface="Noto Sans CJK SC"/>
                <a:ea typeface="Noto Sans CJK SC"/>
              </a:rPr>
              <a:t>交付与服务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33087" y="4014215"/>
            <a:ext cx="100584" cy="256032"/>
          </a:xfrm>
          <a:prstGeom prst="roundRect">
            <a:avLst>
              <a:gd name="adj" fmla="val 12000"/>
            </a:avLst>
          </a:prstGeom>
          <a:solidFill>
            <a:srgbClr val="B17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88536" y="4014215"/>
            <a:ext cx="100584" cy="256032"/>
          </a:xfrm>
          <a:prstGeom prst="roundRect">
            <a:avLst>
              <a:gd name="adj" fmla="val 12000"/>
            </a:avLst>
          </a:prstGeom>
          <a:solidFill>
            <a:srgbClr val="B17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43983" y="4014215"/>
            <a:ext cx="100584" cy="256032"/>
          </a:xfrm>
          <a:prstGeom prst="roundRect">
            <a:avLst>
              <a:gd name="adj" fmla="val 12000"/>
            </a:avLst>
          </a:prstGeom>
          <a:solidFill>
            <a:srgbClr val="B17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99431" y="4014215"/>
            <a:ext cx="100584" cy="256032"/>
          </a:xfrm>
          <a:prstGeom prst="roundRect">
            <a:avLst>
              <a:gd name="adj" fmla="val 12000"/>
            </a:avLst>
          </a:prstGeom>
          <a:solidFill>
            <a:srgbClr val="B17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54879" y="4014215"/>
            <a:ext cx="100584" cy="256032"/>
          </a:xfrm>
          <a:prstGeom prst="roundRect">
            <a:avLst>
              <a:gd name="adj" fmla="val 12000"/>
            </a:avLst>
          </a:prstGeom>
          <a:solidFill>
            <a:srgbClr val="B17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 250"/>
          <p:cNvSpPr txBox="1"/>
          <p:nvPr/>
        </p:nvSpPr>
        <p:spPr>
          <a:xfrm>
            <a:off x="3191256" y="4608576"/>
            <a:ext cx="3044952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17A27"/>
                </a:solidFill>
                <a:latin typeface="Noto Sans CJK SC"/>
                <a:ea typeface="Noto Sans CJK SC"/>
              </a:rPr>
              <a:t>审核排队</a:t>
            </a:r>
          </a:p>
        </p:txBody>
      </p:sp>
      <p:sp>
        <p:nvSpPr>
          <p:cNvPr id="26" name="Text 251"/>
          <p:cNvSpPr txBox="1"/>
          <p:nvPr/>
        </p:nvSpPr>
        <p:spPr>
          <a:xfrm>
            <a:off x="6455664" y="4151376"/>
            <a:ext cx="4654296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2D48"/>
                </a:solidFill>
                <a:latin typeface="Noto Sans CJK SC"/>
                <a:ea typeface="Noto Sans CJK SC"/>
              </a:rPr>
              <a:t>先看谁接手、何时采用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2D48"/>
                </a:solidFill>
                <a:latin typeface="Noto Sans CJK SC"/>
                <a:ea typeface="Noto Sans CJK SC"/>
              </a:rPr>
              <a:t>再安排进入量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" y="5669280"/>
            <a:ext cx="10972800" cy="512064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 252"/>
          <p:cNvSpPr txBox="1"/>
          <p:nvPr/>
        </p:nvSpPr>
        <p:spPr>
          <a:xfrm>
            <a:off x="813816" y="5715000"/>
            <a:ext cx="1057046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69ED"/>
                </a:solidFill>
                <a:latin typeface="Noto Sans CJK SC"/>
                <a:ea typeface="Noto Sans CJK SC"/>
              </a:rPr>
              <a:t>进入量匹配承接容量，优先减少关键瓶颈的等待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253"/>
          <p:cNvSpPr txBox="1"/>
          <p:nvPr/>
        </p:nvSpPr>
        <p:spPr>
          <a:xfrm>
            <a:off x="585216" y="320040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一芥智能研究院  /  企业数智化转型研究报告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768096"/>
            <a:ext cx="64008" cy="566928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254"/>
          <p:cNvSpPr txBox="1"/>
          <p:nvPr/>
        </p:nvSpPr>
        <p:spPr>
          <a:xfrm>
            <a:off x="813816" y="704088"/>
            <a:ext cx="1083564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D48"/>
                </a:solidFill>
                <a:latin typeface="Noto Sans CJK SC"/>
                <a:ea typeface="Noto Sans CJK SC"/>
              </a:rPr>
              <a:t>快，会改变企业怎样配置资源</a:t>
            </a:r>
          </a:p>
        </p:txBody>
      </p:sp>
      <p:sp>
        <p:nvSpPr>
          <p:cNvPr id="5" name="Text 255"/>
          <p:cNvSpPr txBox="1"/>
          <p:nvPr/>
        </p:nvSpPr>
        <p:spPr>
          <a:xfrm>
            <a:off x="822960" y="1399032"/>
            <a:ext cx="107259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资源价值，看它对有效周转与完整收益的贡献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82512"/>
            <a:ext cx="11009376" cy="0"/>
          </a:xfrm>
          <a:prstGeom prst="line">
            <a:avLst/>
          </a:prstGeom>
          <a:ln w="889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256"/>
          <p:cNvSpPr txBox="1"/>
          <p:nvPr/>
        </p:nvSpPr>
        <p:spPr>
          <a:xfrm>
            <a:off x="594360" y="6473952"/>
            <a:ext cx="105613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87"/>
                </a:solidFill>
                <a:latin typeface="Noto Sans CJK SC"/>
                <a:ea typeface="Noto Sans CJK SC"/>
                <a:hlinkClick r:id="rId2"/>
              </a:rPr>
              <a:t>依据：上册1.4、3.5、4.4、5.4｜经营判断的重心归纳</a:t>
            </a:r>
          </a:p>
        </p:txBody>
      </p:sp>
      <p:sp>
        <p:nvSpPr>
          <p:cNvPr id="8" name="Text 257"/>
          <p:cNvSpPr txBox="1"/>
          <p:nvPr/>
        </p:nvSpPr>
        <p:spPr>
          <a:xfrm>
            <a:off x="11183112" y="6446520"/>
            <a:ext cx="42062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148840"/>
            <a:ext cx="3291840" cy="3346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 258"/>
          <p:cNvSpPr txBox="1"/>
          <p:nvPr/>
        </p:nvSpPr>
        <p:spPr>
          <a:xfrm>
            <a:off x="896112" y="2414016"/>
            <a:ext cx="2926080" cy="9692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2869ED"/>
                </a:solidFill>
                <a:latin typeface="Noto Sans CJK SC"/>
                <a:ea typeface="Noto Sans CJK SC"/>
              </a:rPr>
              <a:t>大</a:t>
            </a:r>
          </a:p>
        </p:txBody>
      </p:sp>
      <p:sp>
        <p:nvSpPr>
          <p:cNvPr id="11" name="Text 259"/>
          <p:cNvSpPr txBox="1"/>
          <p:nvPr/>
        </p:nvSpPr>
        <p:spPr>
          <a:xfrm>
            <a:off x="896112" y="3712463"/>
            <a:ext cx="292608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C2D48"/>
                </a:solidFill>
                <a:latin typeface="Noto Sans CJK SC"/>
                <a:ea typeface="Noto Sans CJK SC"/>
              </a:rPr>
              <a:t>可承接的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C2D48"/>
                </a:solidFill>
                <a:latin typeface="Noto Sans CJK SC"/>
                <a:ea typeface="Noto Sans CJK SC"/>
              </a:rPr>
              <a:t>有效业务容量</a:t>
            </a:r>
          </a:p>
        </p:txBody>
      </p:sp>
      <p:sp>
        <p:nvSpPr>
          <p:cNvPr id="12" name="Text 260"/>
          <p:cNvSpPr txBox="1"/>
          <p:nvPr/>
        </p:nvSpPr>
        <p:spPr>
          <a:xfrm>
            <a:off x="886968" y="4828032"/>
            <a:ext cx="294436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86C87"/>
                </a:solidFill>
                <a:latin typeface="Noto Sans CJK SC"/>
                <a:ea typeface="Noto Sans CJK SC"/>
              </a:rPr>
              <a:t>资源存量，也看实际周转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1144" y="2148840"/>
            <a:ext cx="3291840" cy="3346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 261"/>
          <p:cNvSpPr txBox="1"/>
          <p:nvPr/>
        </p:nvSpPr>
        <p:spPr>
          <a:xfrm>
            <a:off x="4764024" y="2414016"/>
            <a:ext cx="2926080" cy="9692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2869ED"/>
                </a:solidFill>
                <a:latin typeface="Noto Sans CJK SC"/>
                <a:ea typeface="Noto Sans CJK SC"/>
              </a:rPr>
              <a:t>贵</a:t>
            </a:r>
          </a:p>
        </p:txBody>
      </p:sp>
      <p:sp>
        <p:nvSpPr>
          <p:cNvPr id="15" name="Text 262"/>
          <p:cNvSpPr txBox="1"/>
          <p:nvPr/>
        </p:nvSpPr>
        <p:spPr>
          <a:xfrm>
            <a:off x="4764024" y="3712463"/>
            <a:ext cx="292608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C2D48"/>
                </a:solidFill>
                <a:latin typeface="Noto Sans CJK SC"/>
                <a:ea typeface="Noto Sans CJK SC"/>
              </a:rPr>
              <a:t>能改善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C2D48"/>
                </a:solidFill>
                <a:latin typeface="Noto Sans CJK SC"/>
                <a:ea typeface="Noto Sans CJK SC"/>
              </a:rPr>
              <a:t>关键周转的能力</a:t>
            </a:r>
          </a:p>
        </p:txBody>
      </p:sp>
      <p:sp>
        <p:nvSpPr>
          <p:cNvPr id="16" name="Text 263"/>
          <p:cNvSpPr txBox="1"/>
          <p:nvPr/>
        </p:nvSpPr>
        <p:spPr>
          <a:xfrm>
            <a:off x="4754880" y="4828032"/>
            <a:ext cx="294436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86C87"/>
                </a:solidFill>
                <a:latin typeface="Noto Sans CJK SC"/>
                <a:ea typeface="Noto Sans CJK SC"/>
              </a:rPr>
              <a:t>贡献与完整投入一起判断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49056" y="2148840"/>
            <a:ext cx="3291840" cy="3346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 264"/>
          <p:cNvSpPr txBox="1"/>
          <p:nvPr/>
        </p:nvSpPr>
        <p:spPr>
          <a:xfrm>
            <a:off x="8631936" y="2414016"/>
            <a:ext cx="2926080" cy="9692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2869ED"/>
                </a:solidFill>
                <a:latin typeface="Noto Sans CJK SC"/>
                <a:ea typeface="Noto Sans CJK SC"/>
              </a:rPr>
              <a:t>人</a:t>
            </a:r>
          </a:p>
        </p:txBody>
      </p:sp>
      <p:sp>
        <p:nvSpPr>
          <p:cNvPr id="19" name="Text 265"/>
          <p:cNvSpPr txBox="1"/>
          <p:nvPr/>
        </p:nvSpPr>
        <p:spPr>
          <a:xfrm>
            <a:off x="8631936" y="3712463"/>
            <a:ext cx="292608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C2D48"/>
                </a:solidFill>
                <a:latin typeface="Noto Sans CJK SC"/>
                <a:ea typeface="Noto Sans CJK SC"/>
              </a:rPr>
              <a:t>专业判断与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C2D48"/>
                </a:solidFill>
                <a:latin typeface="Noto Sans CJK SC"/>
                <a:ea typeface="Noto Sans CJK SC"/>
              </a:rPr>
              <a:t>组织接力</a:t>
            </a:r>
          </a:p>
        </p:txBody>
      </p:sp>
      <p:sp>
        <p:nvSpPr>
          <p:cNvPr id="20" name="Text 266"/>
          <p:cNvSpPr txBox="1"/>
          <p:nvPr/>
        </p:nvSpPr>
        <p:spPr>
          <a:xfrm>
            <a:off x="8622792" y="4828032"/>
            <a:ext cx="294436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86C87"/>
                </a:solidFill>
                <a:latin typeface="Noto Sans CJK SC"/>
                <a:ea typeface="Noto Sans CJK SC"/>
              </a:rPr>
              <a:t>拍板、承诺、异常、调整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267"/>
          <p:cNvSpPr txBox="1"/>
          <p:nvPr/>
        </p:nvSpPr>
        <p:spPr>
          <a:xfrm>
            <a:off x="585216" y="320040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一芥智能研究院  /  企业数智化转型研究报告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768096"/>
            <a:ext cx="64008" cy="566928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268"/>
          <p:cNvSpPr txBox="1"/>
          <p:nvPr/>
        </p:nvSpPr>
        <p:spPr>
          <a:xfrm>
            <a:off x="813816" y="704088"/>
            <a:ext cx="1083564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D48"/>
                </a:solidFill>
                <a:latin typeface="Noto Sans CJK SC"/>
                <a:ea typeface="Noto Sans CJK SC"/>
              </a:rPr>
              <a:t>从一条有负责人的循环开始</a:t>
            </a:r>
          </a:p>
        </p:txBody>
      </p:sp>
      <p:sp>
        <p:nvSpPr>
          <p:cNvPr id="5" name="Text 269"/>
          <p:cNvSpPr txBox="1"/>
          <p:nvPr/>
        </p:nvSpPr>
        <p:spPr>
          <a:xfrm>
            <a:off x="822960" y="1399032"/>
            <a:ext cx="107259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选范围、建立基线、跑小闭环，再决定扩大、调整或停止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82512"/>
            <a:ext cx="11009376" cy="0"/>
          </a:xfrm>
          <a:prstGeom prst="line">
            <a:avLst/>
          </a:prstGeom>
          <a:ln w="889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270"/>
          <p:cNvSpPr txBox="1"/>
          <p:nvPr/>
        </p:nvSpPr>
        <p:spPr>
          <a:xfrm>
            <a:off x="594360" y="6473952"/>
            <a:ext cx="105613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87"/>
                </a:solidFill>
                <a:latin typeface="Noto Sans CJK SC"/>
                <a:ea typeface="Noto Sans CJK SC"/>
                <a:hlinkClick r:id="rId2"/>
              </a:rPr>
              <a:t>依据：上册5.1—5.5｜实施建议</a:t>
            </a:r>
          </a:p>
        </p:txBody>
      </p:sp>
      <p:sp>
        <p:nvSpPr>
          <p:cNvPr id="8" name="Text 271"/>
          <p:cNvSpPr txBox="1"/>
          <p:nvPr/>
        </p:nvSpPr>
        <p:spPr>
          <a:xfrm>
            <a:off x="11183112" y="6446520"/>
            <a:ext cx="42062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2322576"/>
            <a:ext cx="251460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 272"/>
          <p:cNvSpPr txBox="1"/>
          <p:nvPr/>
        </p:nvSpPr>
        <p:spPr>
          <a:xfrm>
            <a:off x="868680" y="2569464"/>
            <a:ext cx="2185416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69ED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1" name="Text 273"/>
          <p:cNvSpPr txBox="1"/>
          <p:nvPr/>
        </p:nvSpPr>
        <p:spPr>
          <a:xfrm>
            <a:off x="868680" y="3191256"/>
            <a:ext cx="2185416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C2D48"/>
                </a:solidFill>
                <a:latin typeface="Noto Sans CJK SC"/>
                <a:ea typeface="Noto Sans CJK SC"/>
              </a:rPr>
              <a:t>选范围</a:t>
            </a:r>
          </a:p>
        </p:txBody>
      </p:sp>
      <p:sp>
        <p:nvSpPr>
          <p:cNvPr id="12" name="Text 274"/>
          <p:cNvSpPr txBox="1"/>
          <p:nvPr/>
        </p:nvSpPr>
        <p:spPr>
          <a:xfrm>
            <a:off x="868680" y="3959352"/>
            <a:ext cx="2185416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86C87"/>
                </a:solidFill>
                <a:latin typeface="Noto Sans CJK SC"/>
                <a:ea typeface="Noto Sans CJK SC"/>
              </a:rPr>
              <a:t>客户结果与本轮瓶颈</a:t>
            </a:r>
          </a:p>
        </p:txBody>
      </p:sp>
      <p:sp>
        <p:nvSpPr>
          <p:cNvPr id="13" name="Chevron 12"/>
          <p:cNvSpPr/>
          <p:nvPr/>
        </p:nvSpPr>
        <p:spPr>
          <a:xfrm>
            <a:off x="3355848" y="3493008"/>
            <a:ext cx="146304" cy="182880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57016" y="2322576"/>
            <a:ext cx="251460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 275"/>
          <p:cNvSpPr txBox="1"/>
          <p:nvPr/>
        </p:nvSpPr>
        <p:spPr>
          <a:xfrm>
            <a:off x="3721608" y="2569464"/>
            <a:ext cx="2185416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69ED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6" name="Text 276"/>
          <p:cNvSpPr txBox="1"/>
          <p:nvPr/>
        </p:nvSpPr>
        <p:spPr>
          <a:xfrm>
            <a:off x="3721608" y="3191256"/>
            <a:ext cx="2185416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C2D48"/>
                </a:solidFill>
                <a:latin typeface="Noto Sans CJK SC"/>
                <a:ea typeface="Noto Sans CJK SC"/>
              </a:rPr>
              <a:t>定基线</a:t>
            </a:r>
          </a:p>
        </p:txBody>
      </p:sp>
      <p:sp>
        <p:nvSpPr>
          <p:cNvPr id="17" name="Text 277"/>
          <p:cNvSpPr txBox="1"/>
          <p:nvPr/>
        </p:nvSpPr>
        <p:spPr>
          <a:xfrm>
            <a:off x="3721608" y="3959352"/>
            <a:ext cx="2185416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86C87"/>
                </a:solidFill>
                <a:latin typeface="Noto Sans CJK SC"/>
                <a:ea typeface="Noto Sans CJK SC"/>
              </a:rPr>
              <a:t>起止、质量、输入与成本</a:t>
            </a:r>
          </a:p>
        </p:txBody>
      </p:sp>
      <p:sp>
        <p:nvSpPr>
          <p:cNvPr id="18" name="Chevron 17"/>
          <p:cNvSpPr/>
          <p:nvPr/>
        </p:nvSpPr>
        <p:spPr>
          <a:xfrm>
            <a:off x="6208776" y="3493008"/>
            <a:ext cx="146304" cy="182880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9944" y="2322576"/>
            <a:ext cx="251460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 278"/>
          <p:cNvSpPr txBox="1"/>
          <p:nvPr/>
        </p:nvSpPr>
        <p:spPr>
          <a:xfrm>
            <a:off x="6574536" y="2569464"/>
            <a:ext cx="2185416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69ED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1" name="Text 279"/>
          <p:cNvSpPr txBox="1"/>
          <p:nvPr/>
        </p:nvSpPr>
        <p:spPr>
          <a:xfrm>
            <a:off x="6574536" y="3191256"/>
            <a:ext cx="2185416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C2D48"/>
                </a:solidFill>
                <a:latin typeface="Noto Sans CJK SC"/>
                <a:ea typeface="Noto Sans CJK SC"/>
              </a:rPr>
              <a:t>跑闭环</a:t>
            </a:r>
          </a:p>
        </p:txBody>
      </p:sp>
      <p:sp>
        <p:nvSpPr>
          <p:cNvPr id="22" name="Text 280"/>
          <p:cNvSpPr txBox="1"/>
          <p:nvPr/>
        </p:nvSpPr>
        <p:spPr>
          <a:xfrm>
            <a:off x="6574536" y="3959352"/>
            <a:ext cx="2185416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86C87"/>
                </a:solidFill>
                <a:latin typeface="Noto Sans CJK SC"/>
                <a:ea typeface="Noto Sans CJK SC"/>
              </a:rPr>
              <a:t>人AI程序接力、验收采用</a:t>
            </a:r>
          </a:p>
        </p:txBody>
      </p:sp>
      <p:sp>
        <p:nvSpPr>
          <p:cNvPr id="23" name="Chevron 22"/>
          <p:cNvSpPr/>
          <p:nvPr/>
        </p:nvSpPr>
        <p:spPr>
          <a:xfrm>
            <a:off x="9061704" y="3493008"/>
            <a:ext cx="146304" cy="182880"/>
          </a:xfrm>
          <a:prstGeom prst="chevron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62872" y="2322576"/>
            <a:ext cx="251460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 281"/>
          <p:cNvSpPr txBox="1"/>
          <p:nvPr/>
        </p:nvSpPr>
        <p:spPr>
          <a:xfrm>
            <a:off x="9427463" y="2569464"/>
            <a:ext cx="2185416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69ED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26" name="Text 282"/>
          <p:cNvSpPr txBox="1"/>
          <p:nvPr/>
        </p:nvSpPr>
        <p:spPr>
          <a:xfrm>
            <a:off x="9427463" y="3191256"/>
            <a:ext cx="2185416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C2D48"/>
                </a:solidFill>
                <a:latin typeface="Noto Sans CJK SC"/>
                <a:ea typeface="Noto Sans CJK SC"/>
              </a:rPr>
              <a:t>作决定</a:t>
            </a:r>
          </a:p>
        </p:txBody>
      </p:sp>
      <p:sp>
        <p:nvSpPr>
          <p:cNvPr id="27" name="Text 283"/>
          <p:cNvSpPr txBox="1"/>
          <p:nvPr/>
        </p:nvSpPr>
        <p:spPr>
          <a:xfrm>
            <a:off x="9427463" y="3959352"/>
            <a:ext cx="2185416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86C87"/>
                </a:solidFill>
                <a:latin typeface="Noto Sans CJK SC"/>
                <a:ea typeface="Noto Sans CJK SC"/>
              </a:rPr>
              <a:t>扩大、调整或停止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5669280"/>
            <a:ext cx="10972800" cy="512064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 284"/>
          <p:cNvSpPr txBox="1"/>
          <p:nvPr/>
        </p:nvSpPr>
        <p:spPr>
          <a:xfrm>
            <a:off x="813816" y="5715000"/>
            <a:ext cx="1057046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69ED"/>
                </a:solidFill>
                <a:latin typeface="Noto Sans CJK SC"/>
                <a:ea typeface="Noto Sans CJK SC"/>
              </a:rPr>
              <a:t>一位结果负责人 · 一条可验收循环 · 一个复盘决定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13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6382512"/>
            <a:ext cx="11009376" cy="0"/>
          </a:xfrm>
          <a:prstGeom prst="line">
            <a:avLst/>
          </a:prstGeom>
          <a:ln w="8890">
            <a:solidFill>
              <a:srgbClr val="365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285"/>
          <p:cNvSpPr txBox="1"/>
          <p:nvPr/>
        </p:nvSpPr>
        <p:spPr>
          <a:xfrm>
            <a:off x="594360" y="6473952"/>
            <a:ext cx="105613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6C9E4"/>
                </a:solidFill>
                <a:latin typeface="Noto Sans CJK SC"/>
                <a:ea typeface="Noto Sans CJK SC"/>
              </a:rPr>
              <a:t>一芥智能研究院｜企业数智化转型研究报告</a:t>
            </a:r>
          </a:p>
        </p:txBody>
      </p:sp>
      <p:sp>
        <p:nvSpPr>
          <p:cNvPr id="4" name="Text 286"/>
          <p:cNvSpPr txBox="1"/>
          <p:nvPr/>
        </p:nvSpPr>
        <p:spPr>
          <a:xfrm>
            <a:off x="11183112" y="6446520"/>
            <a:ext cx="42062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6C9E4"/>
                </a:solidFill>
                <a:latin typeface="Noto Sans CJK SC"/>
                <a:ea typeface="Noto Sans CJK SC"/>
              </a:rPr>
              <a:t>20</a:t>
            </a:r>
          </a:p>
        </p:txBody>
      </p:sp>
      <p:sp>
        <p:nvSpPr>
          <p:cNvPr id="5" name="Text 287"/>
          <p:cNvSpPr txBox="1"/>
          <p:nvPr/>
        </p:nvSpPr>
        <p:spPr>
          <a:xfrm>
            <a:off x="749808" y="530352"/>
            <a:ext cx="1063447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6C9E4"/>
                </a:solidFill>
                <a:latin typeface="Noto Sans CJK SC"/>
                <a:ea typeface="Noto Sans CJK SC"/>
              </a:rPr>
              <a:t>从研究结论，到企业行动</a:t>
            </a:r>
          </a:p>
        </p:txBody>
      </p:sp>
      <p:sp>
        <p:nvSpPr>
          <p:cNvPr id="6" name="Text 288"/>
          <p:cNvSpPr txBox="1"/>
          <p:nvPr/>
        </p:nvSpPr>
        <p:spPr>
          <a:xfrm>
            <a:off x="749808" y="1170432"/>
            <a:ext cx="5486400" cy="2651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0" b="1">
                <a:solidFill>
                  <a:srgbClr val="5CB8FF"/>
                </a:solidFill>
                <a:latin typeface="Noto Sans CJK SC"/>
                <a:ea typeface="Noto Sans CJK SC"/>
              </a:rPr>
              <a:t>快。</a:t>
            </a:r>
          </a:p>
        </p:txBody>
      </p:sp>
      <p:sp>
        <p:nvSpPr>
          <p:cNvPr id="7" name="Text 289"/>
          <p:cNvSpPr txBox="1"/>
          <p:nvPr/>
        </p:nvSpPr>
        <p:spPr>
          <a:xfrm>
            <a:off x="868680" y="3758184"/>
            <a:ext cx="10332720" cy="758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  <a:latin typeface="Noto Sans CJK SC"/>
                <a:ea typeface="Noto Sans CJK SC"/>
              </a:rPr>
              <a:t>让每一轮，都比上一轮更有效。</a:t>
            </a:r>
          </a:p>
        </p:txBody>
      </p:sp>
      <p:sp>
        <p:nvSpPr>
          <p:cNvPr id="8" name="Text 290"/>
          <p:cNvSpPr txBox="1"/>
          <p:nvPr/>
        </p:nvSpPr>
        <p:spPr>
          <a:xfrm>
            <a:off x="914400" y="4937760"/>
            <a:ext cx="23774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6C9E4"/>
                </a:solidFill>
                <a:latin typeface="Noto Sans CJK SC"/>
                <a:ea typeface="Noto Sans CJK SC"/>
              </a:rPr>
              <a:t>决策快</a:t>
            </a:r>
          </a:p>
        </p:txBody>
      </p:sp>
      <p:sp>
        <p:nvSpPr>
          <p:cNvPr id="9" name="Text 291"/>
          <p:cNvSpPr txBox="1"/>
          <p:nvPr/>
        </p:nvSpPr>
        <p:spPr>
          <a:xfrm>
            <a:off x="3584448" y="4937760"/>
            <a:ext cx="23774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6C9E4"/>
                </a:solidFill>
                <a:latin typeface="Noto Sans CJK SC"/>
                <a:ea typeface="Noto Sans CJK SC"/>
              </a:rPr>
              <a:t>试错快</a:t>
            </a:r>
          </a:p>
        </p:txBody>
      </p:sp>
      <p:sp>
        <p:nvSpPr>
          <p:cNvPr id="10" name="Text 292"/>
          <p:cNvSpPr txBox="1"/>
          <p:nvPr/>
        </p:nvSpPr>
        <p:spPr>
          <a:xfrm>
            <a:off x="6254496" y="4937760"/>
            <a:ext cx="23774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6C9E4"/>
                </a:solidFill>
                <a:latin typeface="Noto Sans CJK SC"/>
                <a:ea typeface="Noto Sans CJK SC"/>
              </a:rPr>
              <a:t>复制快</a:t>
            </a:r>
          </a:p>
        </p:txBody>
      </p:sp>
      <p:sp>
        <p:nvSpPr>
          <p:cNvPr id="11" name="Text 293"/>
          <p:cNvSpPr txBox="1"/>
          <p:nvPr/>
        </p:nvSpPr>
        <p:spPr>
          <a:xfrm>
            <a:off x="8924544" y="4937760"/>
            <a:ext cx="23774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6C9E4"/>
                </a:solidFill>
                <a:latin typeface="Noto Sans CJK SC"/>
                <a:ea typeface="Noto Sans CJK SC"/>
              </a:rPr>
              <a:t>切换快</a:t>
            </a:r>
          </a:p>
        </p:txBody>
      </p:sp>
      <p:sp>
        <p:nvSpPr>
          <p:cNvPr id="12" name="Text 294"/>
          <p:cNvSpPr txBox="1"/>
          <p:nvPr/>
        </p:nvSpPr>
        <p:spPr>
          <a:xfrm>
            <a:off x="896112" y="5696712"/>
            <a:ext cx="10442448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今天，先选定一轮，开始加快。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295"/>
          <p:cNvSpPr txBox="1"/>
          <p:nvPr/>
        </p:nvSpPr>
        <p:spPr>
          <a:xfrm>
            <a:off x="585216" y="320040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一芥智能研究院  /  企业数智化转型研究报告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768096"/>
            <a:ext cx="64008" cy="566928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296"/>
          <p:cNvSpPr txBox="1"/>
          <p:nvPr/>
        </p:nvSpPr>
        <p:spPr>
          <a:xfrm>
            <a:off x="813816" y="704088"/>
            <a:ext cx="1083564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D48"/>
                </a:solidFill>
                <a:latin typeface="Noto Sans CJK SC"/>
                <a:ea typeface="Noto Sans CJK SC"/>
              </a:rPr>
              <a:t>附录｜四种快怎样记录</a:t>
            </a:r>
          </a:p>
        </p:txBody>
      </p:sp>
      <p:sp>
        <p:nvSpPr>
          <p:cNvPr id="5" name="Text 297"/>
          <p:cNvSpPr txBox="1"/>
          <p:nvPr/>
        </p:nvSpPr>
        <p:spPr>
          <a:xfrm>
            <a:off x="822960" y="1399032"/>
            <a:ext cx="107259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每条记录对应清楚的对象、开始、结束和后续采用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82512"/>
            <a:ext cx="11009376" cy="0"/>
          </a:xfrm>
          <a:prstGeom prst="line">
            <a:avLst/>
          </a:prstGeom>
          <a:ln w="889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298"/>
          <p:cNvSpPr txBox="1"/>
          <p:nvPr/>
        </p:nvSpPr>
        <p:spPr>
          <a:xfrm>
            <a:off x="594360" y="6473952"/>
            <a:ext cx="105613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87"/>
                </a:solidFill>
                <a:latin typeface="Noto Sans CJK SC"/>
                <a:ea typeface="Noto Sans CJK SC"/>
                <a:hlinkClick r:id="rId2"/>
              </a:rPr>
              <a:t>依据：上册3.5、4.4、5.4｜本演示建议的管理记录</a:t>
            </a:r>
          </a:p>
        </p:txBody>
      </p:sp>
      <p:sp>
        <p:nvSpPr>
          <p:cNvPr id="8" name="Text 299"/>
          <p:cNvSpPr txBox="1"/>
          <p:nvPr/>
        </p:nvSpPr>
        <p:spPr>
          <a:xfrm>
            <a:off x="11183112" y="6446520"/>
            <a:ext cx="42062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029968"/>
            <a:ext cx="1600200" cy="493776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 300"/>
          <p:cNvSpPr txBox="1"/>
          <p:nvPr/>
        </p:nvSpPr>
        <p:spPr>
          <a:xfrm>
            <a:off x="813816" y="2103120"/>
            <a:ext cx="139903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类型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05456" y="2029968"/>
            <a:ext cx="4389120" cy="493776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301"/>
          <p:cNvSpPr txBox="1"/>
          <p:nvPr/>
        </p:nvSpPr>
        <p:spPr>
          <a:xfrm>
            <a:off x="2606040" y="2103120"/>
            <a:ext cx="418795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一轮记录的起止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04888" y="2029968"/>
            <a:ext cx="4334256" cy="493776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 302"/>
          <p:cNvSpPr txBox="1"/>
          <p:nvPr/>
        </p:nvSpPr>
        <p:spPr>
          <a:xfrm>
            <a:off x="7205472" y="2103120"/>
            <a:ext cx="4133088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一起观察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679192"/>
            <a:ext cx="1600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 303"/>
          <p:cNvSpPr txBox="1"/>
          <p:nvPr/>
        </p:nvSpPr>
        <p:spPr>
          <a:xfrm>
            <a:off x="832104" y="2770632"/>
            <a:ext cx="136245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>
                <a:solidFill>
                  <a:srgbClr val="2869ED"/>
                </a:solidFill>
                <a:latin typeface="Noto Sans CJK SC"/>
                <a:ea typeface="Noto Sans CJK SC"/>
              </a:rPr>
              <a:t>决策快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05456" y="2679192"/>
            <a:ext cx="4389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 304"/>
          <p:cNvSpPr txBox="1"/>
          <p:nvPr/>
        </p:nvSpPr>
        <p:spPr>
          <a:xfrm>
            <a:off x="2624328" y="2770632"/>
            <a:ext cx="415137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2D48"/>
                </a:solidFill>
                <a:latin typeface="Noto Sans CJK SC"/>
                <a:ea typeface="Noto Sans CJK SC"/>
              </a:rPr>
              <a:t>信号／问题接收 → 授权决定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04888" y="2679192"/>
            <a:ext cx="4334256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 305"/>
          <p:cNvSpPr txBox="1"/>
          <p:nvPr/>
        </p:nvSpPr>
        <p:spPr>
          <a:xfrm>
            <a:off x="7223759" y="2770632"/>
            <a:ext cx="4096512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2D48"/>
                </a:solidFill>
                <a:latin typeface="Noto Sans CJK SC"/>
                <a:ea typeface="Noto Sans CJK SC"/>
              </a:rPr>
              <a:t>等待、重复确认、决定落实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3465576"/>
            <a:ext cx="1600200" cy="658368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 306"/>
          <p:cNvSpPr txBox="1"/>
          <p:nvPr/>
        </p:nvSpPr>
        <p:spPr>
          <a:xfrm>
            <a:off x="832104" y="3557016"/>
            <a:ext cx="136245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>
                <a:solidFill>
                  <a:srgbClr val="2869ED"/>
                </a:solidFill>
                <a:latin typeface="Noto Sans CJK SC"/>
                <a:ea typeface="Noto Sans CJK SC"/>
              </a:rPr>
              <a:t>试错快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05456" y="3465576"/>
            <a:ext cx="4389120" cy="658368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 307"/>
          <p:cNvSpPr txBox="1"/>
          <p:nvPr/>
        </p:nvSpPr>
        <p:spPr>
          <a:xfrm>
            <a:off x="2624328" y="3557016"/>
            <a:ext cx="415137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2D48"/>
                </a:solidFill>
                <a:latin typeface="Noto Sans CJK SC"/>
                <a:ea typeface="Noto Sans CJK SC"/>
              </a:rPr>
              <a:t>试验决定 → 有效结果与复盘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04888" y="3465576"/>
            <a:ext cx="4334256" cy="658368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308"/>
          <p:cNvSpPr txBox="1"/>
          <p:nvPr/>
        </p:nvSpPr>
        <p:spPr>
          <a:xfrm>
            <a:off x="7223759" y="3557016"/>
            <a:ext cx="4096512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2D48"/>
                </a:solidFill>
                <a:latin typeface="Noto Sans CJK SC"/>
                <a:ea typeface="Noto Sans CJK SC"/>
              </a:rPr>
              <a:t>完整周期、合格采用、总投入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4251960"/>
            <a:ext cx="1600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 309"/>
          <p:cNvSpPr txBox="1"/>
          <p:nvPr/>
        </p:nvSpPr>
        <p:spPr>
          <a:xfrm>
            <a:off x="832104" y="4343400"/>
            <a:ext cx="136245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>
                <a:solidFill>
                  <a:srgbClr val="2869ED"/>
                </a:solidFill>
                <a:latin typeface="Noto Sans CJK SC"/>
                <a:ea typeface="Noto Sans CJK SC"/>
              </a:rPr>
              <a:t>复制快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05456" y="4251960"/>
            <a:ext cx="4389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 310"/>
          <p:cNvSpPr txBox="1"/>
          <p:nvPr/>
        </p:nvSpPr>
        <p:spPr>
          <a:xfrm>
            <a:off x="2624328" y="4343400"/>
            <a:ext cx="415137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2D48"/>
                </a:solidFill>
                <a:latin typeface="Noto Sans CJK SC"/>
                <a:ea typeface="Noto Sans CJK SC"/>
              </a:rPr>
              <a:t>方法进入新任务 → 结果被采用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04888" y="4251960"/>
            <a:ext cx="4334256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 311"/>
          <p:cNvSpPr txBox="1"/>
          <p:nvPr/>
        </p:nvSpPr>
        <p:spPr>
          <a:xfrm>
            <a:off x="7223759" y="4343400"/>
            <a:ext cx="4096512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2D48"/>
                </a:solidFill>
                <a:latin typeface="Noto Sans CJK SC"/>
                <a:ea typeface="Noto Sans CJK SC"/>
              </a:rPr>
              <a:t>首次复用、适配、修订维护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5038344"/>
            <a:ext cx="1600200" cy="658368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 312"/>
          <p:cNvSpPr txBox="1"/>
          <p:nvPr/>
        </p:nvSpPr>
        <p:spPr>
          <a:xfrm>
            <a:off x="832104" y="5129783"/>
            <a:ext cx="136245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>
                <a:solidFill>
                  <a:srgbClr val="2869ED"/>
                </a:solidFill>
                <a:latin typeface="Noto Sans CJK SC"/>
                <a:ea typeface="Noto Sans CJK SC"/>
              </a:rPr>
              <a:t>切换快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05456" y="5038344"/>
            <a:ext cx="4389120" cy="658368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 313"/>
          <p:cNvSpPr txBox="1"/>
          <p:nvPr/>
        </p:nvSpPr>
        <p:spPr>
          <a:xfrm>
            <a:off x="2624328" y="5129783"/>
            <a:ext cx="415137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2D48"/>
                </a:solidFill>
                <a:latin typeface="Noto Sans CJK SC"/>
                <a:ea typeface="Noto Sans CJK SC"/>
              </a:rPr>
              <a:t>新约束确认 → 调整生效与承接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04888" y="5038344"/>
            <a:ext cx="4334256" cy="658368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 314"/>
          <p:cNvSpPr txBox="1"/>
          <p:nvPr/>
        </p:nvSpPr>
        <p:spPr>
          <a:xfrm>
            <a:off x="7223759" y="5129783"/>
            <a:ext cx="4096512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2D48"/>
                </a:solidFill>
                <a:latin typeface="Noto Sans CJK SC"/>
                <a:ea typeface="Noto Sans CJK SC"/>
              </a:rPr>
              <a:t>恢复周期、错版、变更返工</a:t>
            </a:r>
          </a:p>
        </p:txBody>
      </p:sp>
      <p:sp>
        <p:nvSpPr>
          <p:cNvPr id="39" name="Text 315"/>
          <p:cNvSpPr txBox="1"/>
          <p:nvPr/>
        </p:nvSpPr>
        <p:spPr>
          <a:xfrm>
            <a:off x="859536" y="5925312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C87"/>
                </a:solidFill>
                <a:latin typeface="Noto Sans CJK SC"/>
                <a:ea typeface="Noto Sans CJK SC"/>
              </a:rPr>
              <a:t>不同层次各自测量；完整成本、质量和实际采用一起保留。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316"/>
          <p:cNvSpPr txBox="1"/>
          <p:nvPr/>
        </p:nvSpPr>
        <p:spPr>
          <a:xfrm>
            <a:off x="585216" y="320040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一芥智能研究院  /  企业数智化转型研究报告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768096"/>
            <a:ext cx="64008" cy="566928"/>
          </a:xfrm>
          <a:prstGeom prst="rect">
            <a:avLst/>
          </a:prstGeom>
          <a:solidFill>
            <a:srgbClr val="286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317"/>
          <p:cNvSpPr txBox="1"/>
          <p:nvPr/>
        </p:nvSpPr>
        <p:spPr>
          <a:xfrm>
            <a:off x="813816" y="704088"/>
            <a:ext cx="1083564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D48"/>
                </a:solidFill>
                <a:latin typeface="Noto Sans CJK SC"/>
                <a:ea typeface="Noto Sans CJK SC"/>
              </a:rPr>
              <a:t>附录｜依据与案例定位</a:t>
            </a:r>
          </a:p>
        </p:txBody>
      </p:sp>
      <p:sp>
        <p:nvSpPr>
          <p:cNvPr id="5" name="Text 318"/>
          <p:cNvSpPr txBox="1"/>
          <p:nvPr/>
        </p:nvSpPr>
        <p:spPr>
          <a:xfrm>
            <a:off x="822960" y="1399032"/>
            <a:ext cx="107259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C87"/>
                </a:solidFill>
                <a:latin typeface="Noto Sans CJK SC"/>
                <a:ea typeface="Noto Sans CJK SC"/>
              </a:rPr>
              <a:t>讲者备注保留章节、案例阶段、原始出处与适用范围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82512"/>
            <a:ext cx="11009376" cy="0"/>
          </a:xfrm>
          <a:prstGeom prst="line">
            <a:avLst/>
          </a:prstGeom>
          <a:ln w="8890">
            <a:solidFill>
              <a:srgbClr val="D8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319"/>
          <p:cNvSpPr txBox="1"/>
          <p:nvPr/>
        </p:nvSpPr>
        <p:spPr>
          <a:xfrm>
            <a:off x="594360" y="6473952"/>
            <a:ext cx="105613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87"/>
                </a:solidFill>
                <a:latin typeface="Noto Sans CJK SC"/>
                <a:ea typeface="Noto Sans CJK SC"/>
                <a:hlinkClick r:id="rId2"/>
              </a:rPr>
              <a:t>来源：上册 v8.0及对应下册案例｜原稿版本713f5f4（2026-10-13）</a:t>
            </a:r>
          </a:p>
        </p:txBody>
      </p:sp>
      <p:sp>
        <p:nvSpPr>
          <p:cNvPr id="8" name="Text 320"/>
          <p:cNvSpPr txBox="1"/>
          <p:nvPr/>
        </p:nvSpPr>
        <p:spPr>
          <a:xfrm>
            <a:off x="11183112" y="6446520"/>
            <a:ext cx="42062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86C87"/>
                </a:solidFill>
                <a:latin typeface="Noto Sans CJK SC"/>
                <a:ea typeface="Noto Sans CJK SC"/>
              </a:rPr>
              <a:t>22</a:t>
            </a:r>
          </a:p>
        </p:txBody>
      </p:sp>
      <p:sp>
        <p:nvSpPr>
          <p:cNvPr id="9" name="Text 321"/>
          <p:cNvSpPr txBox="1"/>
          <p:nvPr/>
        </p:nvSpPr>
        <p:spPr>
          <a:xfrm>
            <a:off x="777240" y="1965960"/>
            <a:ext cx="10634472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C2D48"/>
                </a:solidFill>
                <a:latin typeface="Noto Sans CJK SC"/>
                <a:ea typeface="Noto Sans CJK SC"/>
              </a:rPr>
              <a:t>上册依据：第一章执行选择 / 第二章MTL任务 / 第三章流程 / 第四章飞轮 / 第五章实施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" y="2724912"/>
            <a:ext cx="10643616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 322"/>
          <p:cNvSpPr txBox="1"/>
          <p:nvPr/>
        </p:nvSpPr>
        <p:spPr>
          <a:xfrm>
            <a:off x="905256" y="2761488"/>
            <a:ext cx="658368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2869ED"/>
                </a:solidFill>
                <a:latin typeface="Noto Sans CJK SC"/>
                <a:ea typeface="Noto Sans CJK SC"/>
                <a:hlinkClick r:id="rId4"/>
              </a:rPr>
              <a:t>I01</a:t>
            </a:r>
          </a:p>
        </p:txBody>
      </p:sp>
      <p:sp>
        <p:nvSpPr>
          <p:cNvPr id="12" name="Text 323"/>
          <p:cNvSpPr txBox="1"/>
          <p:nvPr/>
        </p:nvSpPr>
        <p:spPr>
          <a:xfrm>
            <a:off x="1746504" y="2752344"/>
            <a:ext cx="1874519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>
                <a:solidFill>
                  <a:srgbClr val="1C2D48"/>
                </a:solidFill>
                <a:latin typeface="Noto Sans CJK SC"/>
                <a:ea typeface="Noto Sans CJK SC"/>
                <a:hlinkClick r:id="rId4"/>
              </a:rPr>
              <a:t>泳装商拍</a:t>
            </a:r>
          </a:p>
        </p:txBody>
      </p:sp>
      <p:sp>
        <p:nvSpPr>
          <p:cNvPr id="13" name="Text 324"/>
          <p:cNvSpPr txBox="1"/>
          <p:nvPr/>
        </p:nvSpPr>
        <p:spPr>
          <a:xfrm>
            <a:off x="3721608" y="2752344"/>
            <a:ext cx="7370064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586C87"/>
                </a:solidFill>
                <a:latin typeface="Noto Sans CJK SC"/>
                <a:ea typeface="Noto Sans CJK SC"/>
              </a:rPr>
              <a:t>早期约80%PS补救｜试点自述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" y="3191256"/>
            <a:ext cx="10643616" cy="393192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 325"/>
          <p:cNvSpPr txBox="1"/>
          <p:nvPr/>
        </p:nvSpPr>
        <p:spPr>
          <a:xfrm>
            <a:off x="905256" y="3227832"/>
            <a:ext cx="658368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2869ED"/>
                </a:solidFill>
                <a:latin typeface="Noto Sans CJK SC"/>
                <a:ea typeface="Noto Sans CJK SC"/>
                <a:hlinkClick r:id="rId2"/>
              </a:rPr>
              <a:t>C11</a:t>
            </a:r>
          </a:p>
        </p:txBody>
      </p:sp>
      <p:sp>
        <p:nvSpPr>
          <p:cNvPr id="16" name="Text 326"/>
          <p:cNvSpPr txBox="1"/>
          <p:nvPr/>
        </p:nvSpPr>
        <p:spPr>
          <a:xfrm>
            <a:off x="1746504" y="3218688"/>
            <a:ext cx="1874519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>
                <a:solidFill>
                  <a:srgbClr val="1C2D48"/>
                </a:solidFill>
                <a:latin typeface="Noto Sans CJK SC"/>
                <a:ea typeface="Noto Sans CJK SC"/>
                <a:hlinkClick r:id="rId2"/>
              </a:rPr>
              <a:t>澳洲乳企</a:t>
            </a:r>
          </a:p>
        </p:txBody>
      </p:sp>
      <p:sp>
        <p:nvSpPr>
          <p:cNvPr id="17" name="Text 327"/>
          <p:cNvSpPr txBox="1"/>
          <p:nvPr/>
        </p:nvSpPr>
        <p:spPr>
          <a:xfrm>
            <a:off x="3721608" y="3218688"/>
            <a:ext cx="7370064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586C87"/>
                </a:solidFill>
                <a:latin typeface="Noto Sans CJK SC"/>
                <a:ea typeface="Noto Sans CJK SC"/>
              </a:rPr>
              <a:t>数字可追源、结论进周会｜局部使用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" y="3657600"/>
            <a:ext cx="10643616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 328"/>
          <p:cNvSpPr txBox="1"/>
          <p:nvPr/>
        </p:nvSpPr>
        <p:spPr>
          <a:xfrm>
            <a:off x="905256" y="3694176"/>
            <a:ext cx="658368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2869ED"/>
                </a:solidFill>
                <a:latin typeface="Noto Sans CJK SC"/>
                <a:ea typeface="Noto Sans CJK SC"/>
                <a:hlinkClick r:id="rId5"/>
              </a:rPr>
              <a:t>F11</a:t>
            </a:r>
          </a:p>
        </p:txBody>
      </p:sp>
      <p:sp>
        <p:nvSpPr>
          <p:cNvPr id="20" name="Text 329"/>
          <p:cNvSpPr txBox="1"/>
          <p:nvPr/>
        </p:nvSpPr>
        <p:spPr>
          <a:xfrm>
            <a:off x="1746504" y="3685032"/>
            <a:ext cx="1874519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>
                <a:solidFill>
                  <a:srgbClr val="1C2D48"/>
                </a:solidFill>
                <a:latin typeface="Noto Sans CJK SC"/>
                <a:ea typeface="Noto Sans CJK SC"/>
                <a:hlinkClick r:id="rId5"/>
              </a:rPr>
              <a:t>连锁烘焙</a:t>
            </a:r>
          </a:p>
        </p:txBody>
      </p:sp>
      <p:sp>
        <p:nvSpPr>
          <p:cNvPr id="21" name="Text 330"/>
          <p:cNvSpPr txBox="1"/>
          <p:nvPr/>
        </p:nvSpPr>
        <p:spPr>
          <a:xfrm>
            <a:off x="3721608" y="3685032"/>
            <a:ext cx="7370064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586C87"/>
                </a:solidFill>
                <a:latin typeface="Noto Sans CJK SC"/>
                <a:ea typeface="Noto Sans CJK SC"/>
              </a:rPr>
              <a:t>七天观察：销量↓、总毛利额↑｜局部使用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" y="4123944"/>
            <a:ext cx="10643616" cy="393192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 331"/>
          <p:cNvSpPr txBox="1"/>
          <p:nvPr/>
        </p:nvSpPr>
        <p:spPr>
          <a:xfrm>
            <a:off x="905256" y="4160520"/>
            <a:ext cx="658368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2869ED"/>
                </a:solidFill>
                <a:latin typeface="Noto Sans CJK SC"/>
                <a:ea typeface="Noto Sans CJK SC"/>
                <a:hlinkClick r:id="rId6"/>
              </a:rPr>
              <a:t>L01</a:t>
            </a:r>
          </a:p>
        </p:txBody>
      </p:sp>
      <p:sp>
        <p:nvSpPr>
          <p:cNvPr id="24" name="Text 332"/>
          <p:cNvSpPr txBox="1"/>
          <p:nvPr/>
        </p:nvSpPr>
        <p:spPr>
          <a:xfrm>
            <a:off x="1746504" y="4151376"/>
            <a:ext cx="1874519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>
                <a:solidFill>
                  <a:srgbClr val="1C2D48"/>
                </a:solidFill>
                <a:latin typeface="Noto Sans CJK SC"/>
                <a:ea typeface="Noto Sans CJK SC"/>
                <a:hlinkClick r:id="rId6"/>
              </a:rPr>
              <a:t>TikTok达人运营</a:t>
            </a:r>
          </a:p>
        </p:txBody>
      </p:sp>
      <p:sp>
        <p:nvSpPr>
          <p:cNvPr id="25" name="Text 333"/>
          <p:cNvSpPr txBox="1"/>
          <p:nvPr/>
        </p:nvSpPr>
        <p:spPr>
          <a:xfrm>
            <a:off x="3721608" y="4151376"/>
            <a:ext cx="7370064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586C87"/>
                </a:solidFill>
                <a:latin typeface="Noto Sans CJK SC"/>
                <a:ea typeface="Noto Sans CJK SC"/>
              </a:rPr>
              <a:t>约一个月→约18天｜试点自述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" y="4590288"/>
            <a:ext cx="10643616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 334"/>
          <p:cNvSpPr txBox="1"/>
          <p:nvPr/>
        </p:nvSpPr>
        <p:spPr>
          <a:xfrm>
            <a:off x="905256" y="4626864"/>
            <a:ext cx="658368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2869ED"/>
                </a:solidFill>
                <a:latin typeface="Noto Sans CJK SC"/>
                <a:ea typeface="Noto Sans CJK SC"/>
                <a:hlinkClick r:id="rId7"/>
              </a:rPr>
              <a:t>L05</a:t>
            </a:r>
          </a:p>
        </p:txBody>
      </p:sp>
      <p:sp>
        <p:nvSpPr>
          <p:cNvPr id="28" name="Text 335"/>
          <p:cNvSpPr txBox="1"/>
          <p:nvPr/>
        </p:nvSpPr>
        <p:spPr>
          <a:xfrm>
            <a:off x="1746504" y="4617720"/>
            <a:ext cx="1874519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>
                <a:solidFill>
                  <a:srgbClr val="1C2D48"/>
                </a:solidFill>
                <a:latin typeface="Noto Sans CJK SC"/>
                <a:ea typeface="Noto Sans CJK SC"/>
                <a:hlinkClick r:id="rId7"/>
              </a:rPr>
              <a:t>CGL招聘</a:t>
            </a:r>
          </a:p>
        </p:txBody>
      </p:sp>
      <p:sp>
        <p:nvSpPr>
          <p:cNvPr id="29" name="Text 336"/>
          <p:cNvSpPr txBox="1"/>
          <p:nvPr/>
        </p:nvSpPr>
        <p:spPr>
          <a:xfrm>
            <a:off x="3721608" y="4617720"/>
            <a:ext cx="7370064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586C87"/>
                </a:solidFill>
                <a:latin typeface="Noto Sans CJK SC"/>
                <a:ea typeface="Noto Sans CJK SC"/>
              </a:rPr>
              <a:t>需求回应、技能沉淀与系统接入｜局部使用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" y="5056631"/>
            <a:ext cx="10643616" cy="393192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 337"/>
          <p:cNvSpPr txBox="1"/>
          <p:nvPr/>
        </p:nvSpPr>
        <p:spPr>
          <a:xfrm>
            <a:off x="905256" y="5093207"/>
            <a:ext cx="658368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2869ED"/>
                </a:solidFill>
                <a:latin typeface="Noto Sans CJK SC"/>
                <a:ea typeface="Noto Sans CJK SC"/>
                <a:hlinkClick r:id="rId8"/>
              </a:rPr>
              <a:t>M02</a:t>
            </a:r>
          </a:p>
        </p:txBody>
      </p:sp>
      <p:sp>
        <p:nvSpPr>
          <p:cNvPr id="32" name="Text 338"/>
          <p:cNvSpPr txBox="1"/>
          <p:nvPr/>
        </p:nvSpPr>
        <p:spPr>
          <a:xfrm>
            <a:off x="1746504" y="5084064"/>
            <a:ext cx="1874519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>
                <a:solidFill>
                  <a:srgbClr val="1C2D48"/>
                </a:solidFill>
                <a:latin typeface="Noto Sans CJK SC"/>
                <a:ea typeface="Noto Sans CJK SC"/>
                <a:hlinkClick r:id="rId8"/>
              </a:rPr>
              <a:t>消防维保</a:t>
            </a:r>
          </a:p>
        </p:txBody>
      </p:sp>
      <p:sp>
        <p:nvSpPr>
          <p:cNvPr id="33" name="Text 339"/>
          <p:cNvSpPr txBox="1"/>
          <p:nvPr/>
        </p:nvSpPr>
        <p:spPr>
          <a:xfrm>
            <a:off x="3721608" y="5084064"/>
            <a:ext cx="7370064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586C87"/>
                </a:solidFill>
                <a:latin typeface="Noto Sans CJK SC"/>
                <a:ea typeface="Noto Sans CJK SC"/>
              </a:rPr>
              <a:t>叫停约十万元计划采购｜数字化取舍</a:t>
            </a:r>
          </a:p>
        </p:txBody>
      </p:sp>
      <p:sp>
        <p:nvSpPr>
          <p:cNvPr id="34" name="Text 340"/>
          <p:cNvSpPr txBox="1"/>
          <p:nvPr/>
        </p:nvSpPr>
        <p:spPr>
          <a:xfrm>
            <a:off x="877824" y="5733288"/>
            <a:ext cx="10442448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69ED"/>
                </a:solidFill>
                <a:latin typeface="Noto Sans CJK SC"/>
                <a:ea typeface="Noto Sans CJK SC"/>
              </a:rPr>
              <a:t>四种快、指标表达与图示，是本演示基于上册的管理归纳。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快：让企业更快完成有效业务循环</dc:title>
  <dc:subject>从研究结论到企业行动的解决方案</dc:subject>
  <dc:creator>一芥智能研究院</dc:creator>
  <cp:keywords>快,有效业务周转,MTL,LTC,智力飞轮,决策,试错,复制,切换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